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60" r:id="rId2"/>
    <p:sldId id="266" r:id="rId3"/>
    <p:sldId id="269" r:id="rId4"/>
    <p:sldId id="268" r:id="rId5"/>
  </p:sldIdLst>
  <p:sldSz cx="12192000" cy="6858000"/>
  <p:notesSz cx="12192000" cy="6858000"/>
  <p:embeddedFontLst>
    <p:embeddedFont>
      <p:font typeface="KDMFEK+FranklinGothic-Book" panose="02000500000000000000" pitchFamily="2" charset="0"/>
      <p:regular r:id="rId7"/>
    </p:embeddedFont>
    <p:embeddedFont>
      <p:font typeface="OAGDQN+FranklinGothic-BookItalic" panose="02000500000000000000" pitchFamily="2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623"/>
    <p:restoredTop sz="73549"/>
  </p:normalViewPr>
  <p:slideViewPr>
    <p:cSldViewPr>
      <p:cViewPr varScale="1">
        <p:scale>
          <a:sx n="93" d="100"/>
          <a:sy n="93" d="100"/>
        </p:scale>
        <p:origin x="672" y="20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60B00-F7D7-A048-9DE8-3D2F737BCA40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5A014-AA40-5B4A-A5FD-4F58A1D7A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16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08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7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65721-9186-7C1D-0356-C4911D36B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1CF301-5678-E099-68D4-8F20D222D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402FF-22DD-4789-E79E-E7CD83E38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06E08-D868-E2C0-E27C-07F3E73D9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77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71355-85F6-CF92-4C8F-3100CC56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B7C8D-BDAB-8FCD-FB0D-EDFDCED0C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F0FD8-6C3E-4632-2908-448E25301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B22E7-FE82-EFCF-D187-6F41357AC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25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A8878F1E-7759-F15D-B13F-98BFACDFDDDD}"/>
              </a:ext>
            </a:extLst>
          </p:cNvPr>
          <p:cNvSpPr txBox="1"/>
          <p:nvPr/>
        </p:nvSpPr>
        <p:spPr>
          <a:xfrm>
            <a:off x="731404" y="2813447"/>
            <a:ext cx="10729192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4000" dirty="0"/>
              <a:t>Longitudinal </a:t>
            </a:r>
            <a:r>
              <a:rPr lang="en-US" sz="4000" dirty="0" err="1"/>
              <a:t>DNAm</a:t>
            </a:r>
            <a:r>
              <a:rPr lang="en-US" sz="4000" dirty="0"/>
              <a:t> Changes in TEDDY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CAB99B72-60A9-3C59-378B-AECE9E804BCF}"/>
              </a:ext>
            </a:extLst>
          </p:cNvPr>
          <p:cNvSpPr txBox="1"/>
          <p:nvPr/>
        </p:nvSpPr>
        <p:spPr>
          <a:xfrm>
            <a:off x="1109484" y="864195"/>
            <a:ext cx="10297144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465A1AE-082B-7AA1-0789-292CFE1C7BD7}"/>
              </a:ext>
            </a:extLst>
          </p:cNvPr>
          <p:cNvSpPr txBox="1"/>
          <p:nvPr/>
        </p:nvSpPr>
        <p:spPr>
          <a:xfrm>
            <a:off x="1199456" y="181814"/>
            <a:ext cx="5065008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spc="-21" dirty="0">
                <a:solidFill>
                  <a:srgbClr val="181A0D"/>
                </a:solidFill>
                <a:cs typeface="KDMFEK+FranklinGothic-Book"/>
              </a:rPr>
              <a:t>Recap</a:t>
            </a:r>
            <a:endParaRPr sz="4400" dirty="0">
              <a:solidFill>
                <a:srgbClr val="181A0D"/>
              </a:solidFill>
              <a:cs typeface="KDMFEK+FranklinGothic-Boo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C9439D-5EAD-7CCF-7E5F-FBC17430F772}"/>
              </a:ext>
            </a:extLst>
          </p:cNvPr>
          <p:cNvSpPr txBox="1"/>
          <p:nvPr/>
        </p:nvSpPr>
        <p:spPr>
          <a:xfrm>
            <a:off x="1055440" y="997759"/>
            <a:ext cx="108012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400" b="1" dirty="0"/>
              <a:t>Clustering </a:t>
            </a:r>
            <a:r>
              <a:rPr lang="en-US" sz="2400" b="1" dirty="0" err="1"/>
              <a:t>CpGs</a:t>
            </a:r>
            <a:endParaRPr lang="en-US" sz="2400" b="1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/>
              <a:t> by projected age curves fitted with cubic splines in </a:t>
            </a:r>
            <a:r>
              <a:rPr lang="en-US" sz="2400" dirty="0" err="1"/>
              <a:t>lmer</a:t>
            </a:r>
            <a:r>
              <a:rPr lang="en-US" sz="2400" dirty="0"/>
              <a:t>() </a:t>
            </a:r>
            <a:br>
              <a:rPr lang="en-US" sz="2400" dirty="0"/>
            </a:br>
            <a:r>
              <a:rPr lang="en-US" sz="2400" dirty="0" err="1"/>
              <a:t>age_grid</a:t>
            </a:r>
            <a:r>
              <a:rPr lang="en-US" sz="2400" dirty="0"/>
              <a:t> = quantile(probs = seq(0, 1, </a:t>
            </a:r>
            <a:r>
              <a:rPr lang="en-US" sz="2400" dirty="0" err="1"/>
              <a:t>length.out</a:t>
            </a:r>
            <a:r>
              <a:rPr lang="en-US" sz="2400" dirty="0"/>
              <a:t> = 12)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/>
              <a:t>[1] "0.203yrs-2mos" "0.501yrs-6mos" "0.750yrs-9mos" "0.994yrs" "1.235yrs" "1.498yrs” 1.755yrs" "2.055" "2.507" "3.003yrs" "3.724yrs" "6.190yrs”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biologically meaningful ages will be explored</a:t>
            </a:r>
          </a:p>
          <a:p>
            <a:pPr lvl="1"/>
            <a:endParaRPr lang="en-US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400" b="1" dirty="0" err="1"/>
              <a:t>Kmeans</a:t>
            </a:r>
            <a:r>
              <a:rPr lang="en-US" sz="2400" b="1" dirty="0"/>
              <a:t> on a small sample of 50 </a:t>
            </a:r>
            <a:r>
              <a:rPr lang="en-US" sz="2400" b="1" dirty="0" err="1"/>
              <a:t>CpGs</a:t>
            </a:r>
            <a:endParaRPr lang="en-US" sz="2400" b="1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/>
              <a:t>25 top increasing and 25 flat </a:t>
            </a:r>
            <a:r>
              <a:rPr lang="en-US" sz="2400" dirty="0" err="1"/>
              <a:t>CpGs</a:t>
            </a:r>
            <a:r>
              <a:rPr lang="en-US" sz="2400" dirty="0"/>
              <a:t> by fixed beta from </a:t>
            </a:r>
            <a:r>
              <a:rPr lang="en-US" sz="2400" dirty="0" err="1"/>
              <a:t>lmer</a:t>
            </a:r>
            <a:endParaRPr lang="en-US" sz="2400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/>
              <a:t>Flat = filter(abs(</a:t>
            </a:r>
            <a:r>
              <a:rPr lang="en-US" sz="2400" dirty="0" err="1"/>
              <a:t>fixed_slope</a:t>
            </a:r>
            <a:r>
              <a:rPr lang="en-US" sz="2400" dirty="0"/>
              <a:t>) &lt; 0.002, </a:t>
            </a:r>
            <a:r>
              <a:rPr lang="en-US" sz="2400" dirty="0" err="1"/>
              <a:t>q_slope</a:t>
            </a:r>
            <a:r>
              <a:rPr lang="en-US" sz="2400" dirty="0"/>
              <a:t> &gt; 0.5)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/>
              <a:t>Increasing = filter(</a:t>
            </a:r>
            <a:r>
              <a:rPr lang="en-US" sz="2400" dirty="0" err="1"/>
              <a:t>fixed_slope</a:t>
            </a:r>
            <a:r>
              <a:rPr lang="en-US" sz="2400" dirty="0"/>
              <a:t> &gt; 0.01, </a:t>
            </a:r>
            <a:r>
              <a:rPr lang="en-US" sz="2400" dirty="0" err="1"/>
              <a:t>q_slope</a:t>
            </a:r>
            <a:r>
              <a:rPr lang="en-US" sz="2400" dirty="0"/>
              <a:t> &lt; 0.01)</a:t>
            </a:r>
          </a:p>
          <a:p>
            <a:pPr marL="800100" lvl="1" indent="-342900">
              <a:buFont typeface="Wingdings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itchFamily="2" charset="2"/>
              <a:buChar char="Ø"/>
            </a:pPr>
            <a:endParaRPr lang="en-US" sz="2400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A1F4F-C4A1-5DCD-093B-43B602390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0ED2152B-F77E-BEB4-57F0-B2ACE461CB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1269DE71-4C4A-2481-8C9A-D4D520EDFDB3}"/>
              </a:ext>
            </a:extLst>
          </p:cNvPr>
          <p:cNvSpPr txBox="1"/>
          <p:nvPr/>
        </p:nvSpPr>
        <p:spPr>
          <a:xfrm>
            <a:off x="1109484" y="864195"/>
            <a:ext cx="10297144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9EF5F8-64D5-2AF1-CD9B-4F365AED5FC0}"/>
              </a:ext>
            </a:extLst>
          </p:cNvPr>
          <p:cNvSpPr txBox="1"/>
          <p:nvPr/>
        </p:nvSpPr>
        <p:spPr>
          <a:xfrm>
            <a:off x="1055440" y="997759"/>
            <a:ext cx="108012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400" b="1" dirty="0"/>
              <a:t>Flat </a:t>
            </a:r>
            <a:r>
              <a:rPr lang="en-US" sz="2400" b="1" dirty="0" err="1"/>
              <a:t>CpGs</a:t>
            </a:r>
            <a:r>
              <a:rPr lang="en-US" sz="2400" b="1" dirty="0"/>
              <a:t> not clustering together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/>
              <a:t>9 out of 25 “flat” </a:t>
            </a:r>
            <a:r>
              <a:rPr lang="en-US" sz="2400" dirty="0" err="1"/>
              <a:t>CpGs</a:t>
            </a:r>
            <a:r>
              <a:rPr lang="en-US" sz="2400" dirty="0"/>
              <a:t> were clustered in with increasing </a:t>
            </a:r>
            <a:r>
              <a:rPr lang="en-US" sz="2400" dirty="0" err="1"/>
              <a:t>CpGs</a:t>
            </a:r>
            <a:endParaRPr lang="en-US" sz="2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Wingdings" pitchFamily="2" charset="2"/>
              <a:buChar char="Ø"/>
            </a:pPr>
            <a:endParaRPr lang="en-US" sz="2400" dirty="0"/>
          </a:p>
          <a:p>
            <a:pPr lvl="1"/>
            <a:endParaRPr lang="en-US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3D6C11A-994F-4419-627D-27236D5C3066}"/>
              </a:ext>
            </a:extLst>
          </p:cNvPr>
          <p:cNvSpPr txBox="1"/>
          <p:nvPr/>
        </p:nvSpPr>
        <p:spPr>
          <a:xfrm>
            <a:off x="1109484" y="156212"/>
            <a:ext cx="5065008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spc="-21" dirty="0">
                <a:solidFill>
                  <a:srgbClr val="181A0D"/>
                </a:solidFill>
                <a:cs typeface="KDMFEK+FranklinGothic-Book"/>
              </a:rPr>
              <a:t>Clustering Results</a:t>
            </a:r>
            <a:endParaRPr sz="4400" dirty="0">
              <a:solidFill>
                <a:srgbClr val="181A0D"/>
              </a:solidFill>
              <a:cs typeface="KDMFEK+FranklinGothic-Boo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B4F855-EC4E-6848-C056-DDA5F5803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022" y="2035744"/>
            <a:ext cx="5456684" cy="33610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856EDB-CFEB-379B-895B-2140DFA0A6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184" y="2035744"/>
            <a:ext cx="5456684" cy="33409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B5366C-E14A-1C60-82C5-C968218F7695}"/>
              </a:ext>
            </a:extLst>
          </p:cNvPr>
          <p:cNvSpPr txBox="1"/>
          <p:nvPr/>
        </p:nvSpPr>
        <p:spPr>
          <a:xfrm>
            <a:off x="1055440" y="5534824"/>
            <a:ext cx="10801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400" b="1" dirty="0"/>
              <a:t>All increasing </a:t>
            </a:r>
            <a:r>
              <a:rPr lang="en-US" sz="2400" b="1" dirty="0" err="1"/>
              <a:t>CpGs</a:t>
            </a:r>
            <a:r>
              <a:rPr lang="en-US" sz="2400" b="1" dirty="0"/>
              <a:t> were clustered together</a:t>
            </a:r>
            <a:endParaRPr lang="en-US" sz="2400" dirty="0"/>
          </a:p>
          <a:p>
            <a:pPr marL="342900" indent="-342900">
              <a:buFont typeface="Wingdings" pitchFamily="2" charset="2"/>
              <a:buChar char="Ø"/>
            </a:pPr>
            <a:endParaRPr lang="en-US" sz="24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045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9220A-E907-696F-E178-950E13497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1DE5CAE3-8C9D-5530-AE7E-1A8DEBA08D3C}"/>
              </a:ext>
            </a:extLst>
          </p:cNvPr>
          <p:cNvSpPr/>
          <p:nvPr/>
        </p:nvSpPr>
        <p:spPr>
          <a:xfrm>
            <a:off x="-17029" y="16706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EAE3A46-4681-9C3A-4457-84A4BDDF8063}"/>
              </a:ext>
            </a:extLst>
          </p:cNvPr>
          <p:cNvSpPr txBox="1"/>
          <p:nvPr/>
        </p:nvSpPr>
        <p:spPr>
          <a:xfrm>
            <a:off x="1199456" y="181814"/>
            <a:ext cx="5065008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spc="-21" dirty="0">
                <a:solidFill>
                  <a:srgbClr val="181A0D"/>
                </a:solidFill>
                <a:cs typeface="KDMFEK+FranklinGothic-Book"/>
              </a:rPr>
              <a:t>Next Steps</a:t>
            </a:r>
            <a:endParaRPr sz="4400" dirty="0">
              <a:solidFill>
                <a:srgbClr val="181A0D"/>
              </a:solidFill>
              <a:cs typeface="KDMFEK+FranklinGothic-Book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D74E46-2432-254C-BC84-2C9654660EE0}"/>
              </a:ext>
            </a:extLst>
          </p:cNvPr>
          <p:cNvSpPr txBox="1"/>
          <p:nvPr/>
        </p:nvSpPr>
        <p:spPr>
          <a:xfrm>
            <a:off x="1055440" y="997759"/>
            <a:ext cx="108012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400" b="1" dirty="0"/>
              <a:t>Clustering Results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/>
              <a:t>Examining why ”flat” </a:t>
            </a:r>
            <a:r>
              <a:rPr lang="en-US" sz="2400" dirty="0" err="1"/>
              <a:t>CpGs</a:t>
            </a:r>
            <a:r>
              <a:rPr lang="en-US" sz="2400" dirty="0"/>
              <a:t> are not being clustered together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Ages 4 to 6 are sparse – maybe highly leveraged?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/>
              <a:t> Exploring other model outputs as inputs for clustering</a:t>
            </a:r>
          </a:p>
          <a:p>
            <a:pPr marL="1257300" lvl="2" indent="-342900">
              <a:buFont typeface="Wingdings" pitchFamily="2" charset="2"/>
              <a:buChar char="Ø"/>
            </a:pPr>
            <a:r>
              <a:rPr lang="en-US" sz="2400" dirty="0"/>
              <a:t>BLUPs, AIC, BIC, </a:t>
            </a:r>
            <a:r>
              <a:rPr lang="en-US" sz="2400" dirty="0" err="1"/>
              <a:t>etc</a:t>
            </a:r>
            <a:endParaRPr lang="en-US" sz="2400" dirty="0"/>
          </a:p>
          <a:p>
            <a:pPr lvl="1"/>
            <a:endParaRPr lang="en-US" sz="24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400" b="1" dirty="0"/>
              <a:t>Methods based on Hossain et al &amp; James et al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/>
              <a:t>Papers provide approaches to clustering longitudinal data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/>
              <a:t>Treat each subjects trajectory as a latent function or curve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Curves fitted by splines (ns=3)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/>
              <a:t>Use RE model </a:t>
            </a:r>
            <a:r>
              <a:rPr lang="en-US" sz="2400" dirty="0" err="1"/>
              <a:t>coeffs</a:t>
            </a:r>
            <a:endParaRPr lang="en-US" sz="2400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/>
              <a:t>Cluster using EM</a:t>
            </a:r>
          </a:p>
          <a:p>
            <a:pPr marL="1257300" lvl="2" indent="-342900">
              <a:buFont typeface="Wingdings" pitchFamily="2" charset="2"/>
              <a:buChar char="Ø"/>
            </a:pPr>
            <a:endParaRPr lang="en-US" sz="24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13003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13722</TotalTime>
  <Words>256</Words>
  <Application>Microsoft Macintosh PowerPoint</Application>
  <PresentationFormat>Widescreen</PresentationFormat>
  <Paragraphs>46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Wingdings</vt:lpstr>
      <vt:lpstr>OAGDQN+FranklinGothic-BookItalic</vt:lpstr>
      <vt:lpstr>Arial</vt:lpstr>
      <vt:lpstr>KDMFEK+FranklinGothic-Book</vt:lpstr>
      <vt:lpstr>Aptos</vt:lpstr>
      <vt:lpstr>Calibri</vt:lpstr>
      <vt:lpstr>Theme Office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root</dc:creator>
  <cp:lastModifiedBy>Ryan Summers</cp:lastModifiedBy>
  <cp:revision>514</cp:revision>
  <dcterms:modified xsi:type="dcterms:W3CDTF">2026-04-09T03:32:50Z</dcterms:modified>
</cp:coreProperties>
</file>