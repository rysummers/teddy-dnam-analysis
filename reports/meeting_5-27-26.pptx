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60" r:id="rId2"/>
    <p:sldId id="266" r:id="rId3"/>
    <p:sldId id="262" r:id="rId4"/>
    <p:sldId id="271" r:id="rId5"/>
    <p:sldId id="269" r:id="rId6"/>
    <p:sldId id="268" r:id="rId7"/>
  </p:sldIdLst>
  <p:sldSz cx="12192000" cy="6858000"/>
  <p:notesSz cx="12192000" cy="6858000"/>
  <p:embeddedFontLst>
    <p:embeddedFont>
      <p:font typeface="GEHAIV+FranklinGothic-Book" panose="02000500000000000000" pitchFamily="2" charset="0"/>
      <p:regular r:id="rId9"/>
      <p:bold r:id="rId10"/>
      <p:italic r:id="rId11"/>
      <p:boldItalic r:id="rId12"/>
    </p:embeddedFont>
    <p:embeddedFont>
      <p:font typeface="KDMFEK+FranklinGothic-Book" panose="02000500000000000000" pitchFamily="2" charset="0"/>
      <p:regular r:id="rId13"/>
    </p:embeddedFont>
    <p:embeddedFont>
      <p:font typeface="NOOILK+FranklinGothic-Book" panose="02000500000000000000" pitchFamily="2" charset="0"/>
      <p:regular r:id="rId14"/>
      <p:bold r:id="rId15"/>
      <p:italic r:id="rId16"/>
      <p:boldItalic r:id="rId17"/>
    </p:embeddedFont>
    <p:embeddedFont>
      <p:font typeface="OAGDQN+FranklinGothic-BookItalic" panose="02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81"/>
    <p:restoredTop sz="73571"/>
  </p:normalViewPr>
  <p:slideViewPr>
    <p:cSldViewPr>
      <p:cViewPr varScale="1">
        <p:scale>
          <a:sx n="96" d="100"/>
          <a:sy n="96" d="100"/>
        </p:scale>
        <p:origin x="168" y="19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60B00-F7D7-A048-9DE8-3D2F737BCA40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5A014-AA40-5B4A-A5FD-4F58A1D7A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0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hypothesis generating / exploration stage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45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F7B9-3213-C214-05BD-94803E32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6B63E-778F-7A3D-BE35-76B13B5E4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E1C8E-A541-39C1-195F-0D93CD996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Basis = building blocks of predicted trajectory curve – weighted combination of basis functions build the trajectory curve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Knots = partitions ages into regions that allows the trajectory curve to be more flexibility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Natural splines model nonlinear trajectories by combining smooth basis functions whose flexibility is guided by knot locations, allowing local curvature while preserving one continuous trajectory across 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i="0" dirty="0"/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i="0" dirty="0"/>
              <a:t>Predicted methylation values implicitly encode the trajectory shape </a:t>
            </a:r>
          </a:p>
          <a:p>
            <a:pPr marL="0" indent="0">
              <a:buFont typeface="Wingdings" pitchFamily="2" charset="2"/>
              <a:buNone/>
            </a:pPr>
            <a:endParaRPr lang="en-US" sz="1200" b="0" dirty="0"/>
          </a:p>
          <a:p>
            <a:pPr marL="0" indent="0">
              <a:buFont typeface="Wingdings" pitchFamily="2" charset="2"/>
              <a:buNone/>
            </a:pPr>
            <a:r>
              <a:rPr lang="en-US" sz="2000" b="0" dirty="0"/>
              <a:t>Methods based on Hossain et al &amp; James et al - Papers provide approaches to clustering longitudinal data</a:t>
            </a:r>
          </a:p>
          <a:p>
            <a:pPr marL="0" indent="0">
              <a:buFont typeface="Wingdings" pitchFamily="2" charset="2"/>
              <a:buNone/>
            </a:pPr>
            <a:endParaRPr lang="en-US" sz="2000" b="0" dirty="0"/>
          </a:p>
          <a:p>
            <a:pPr marL="0" indent="0">
              <a:buFont typeface="Wingdings" pitchFamily="2" charset="2"/>
              <a:buNone/>
            </a:pPr>
            <a:r>
              <a:rPr lang="en-US" sz="2000" b="0" dirty="0"/>
              <a:t>toy demonstration</a:t>
            </a:r>
            <a:endParaRPr lang="en-US" sz="24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D74DE-E173-AF8B-4535-090F9E5D5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58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5721-9186-7C1D-0356-C4911D36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CF301-5678-E099-68D4-8F20D222D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402FF-22DD-4789-E79E-E7CD83E38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06E08-D868-E2C0-E27C-07F3E73D9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77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1355-85F6-CF92-4C8F-3100CC56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B7C8D-BDAB-8FCD-FB0D-EDFDCED0C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F0FD8-6C3E-4632-2908-448E25301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B22E7-FE82-EFCF-D187-6F41357AC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5A014-AA40-5B4A-A5FD-4F58A1D7AE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25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8878F1E-7759-F15D-B13F-98BFACDFDDDD}"/>
              </a:ext>
            </a:extLst>
          </p:cNvPr>
          <p:cNvSpPr txBox="1"/>
          <p:nvPr/>
        </p:nvSpPr>
        <p:spPr>
          <a:xfrm>
            <a:off x="731404" y="2813447"/>
            <a:ext cx="10729192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000" dirty="0"/>
              <a:t>Longitudinal </a:t>
            </a:r>
            <a:r>
              <a:rPr lang="en-US" sz="4000" dirty="0" err="1"/>
              <a:t>DNAm</a:t>
            </a:r>
            <a:r>
              <a:rPr lang="en-US" sz="4000" dirty="0"/>
              <a:t> Changes in TEDDY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AC4346B-9BA5-5EBE-0E5C-8DB3FB84A015}"/>
              </a:ext>
            </a:extLst>
          </p:cNvPr>
          <p:cNvSpPr txBox="1"/>
          <p:nvPr/>
        </p:nvSpPr>
        <p:spPr>
          <a:xfrm>
            <a:off x="4507565" y="3861048"/>
            <a:ext cx="317687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ctr">
              <a:lnSpc>
                <a:spcPts val="261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dirty="0">
                <a:solidFill>
                  <a:srgbClr val="181A0D"/>
                </a:solidFill>
                <a:cs typeface="GEHAIV+FranklinGothic-Book"/>
              </a:rPr>
              <a:t>Ryan Summers</a:t>
            </a:r>
            <a:endParaRPr sz="2300" dirty="0">
              <a:solidFill>
                <a:srgbClr val="181A0D"/>
              </a:solidFill>
              <a:cs typeface="GEHAIV+FranklinGothic-Book"/>
            </a:endParaRPr>
          </a:p>
          <a:p>
            <a:pPr marL="77914" marR="0" algn="ctr">
              <a:lnSpc>
                <a:spcPts val="2612"/>
              </a:lnSpc>
              <a:spcBef>
                <a:spcPts val="459"/>
              </a:spcBef>
              <a:spcAft>
                <a:spcPts val="0"/>
              </a:spcAft>
            </a:pPr>
            <a:r>
              <a:rPr lang="en-US" sz="2300" spc="-13" dirty="0">
                <a:solidFill>
                  <a:srgbClr val="181A0D"/>
                </a:solidFill>
                <a:cs typeface="GEHAIV+FranklinGothic-Book"/>
              </a:rPr>
              <a:t>5/27/26</a:t>
            </a:r>
            <a:endParaRPr sz="2300" spc="-13" dirty="0">
              <a:solidFill>
                <a:srgbClr val="181A0D"/>
              </a:solidFill>
              <a:cs typeface="GEHAIV+FranklinGothic-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1741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AB99B72-60A9-3C59-378B-AECE9E804BCF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465A1AE-082B-7AA1-0789-292CFE1C7BD7}"/>
              </a:ext>
            </a:extLst>
          </p:cNvPr>
          <p:cNvSpPr txBox="1"/>
          <p:nvPr/>
        </p:nvSpPr>
        <p:spPr>
          <a:xfrm>
            <a:off x="1199456" y="181814"/>
            <a:ext cx="5065008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Thesis Aims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C9439D-5EAD-7CCF-7E5F-FBC17430F772}"/>
              </a:ext>
            </a:extLst>
          </p:cNvPr>
          <p:cNvSpPr txBox="1"/>
          <p:nvPr/>
        </p:nvSpPr>
        <p:spPr>
          <a:xfrm>
            <a:off x="983432" y="1340768"/>
            <a:ext cx="1072919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Explore longitudinal modeling and clustering methods to identify a meaningful representation of methylation trajectories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Using unsupervised machine learning techniques to cluster CpGs into classes based on similar trajectory profiles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dirty="0"/>
              <a:t>(</a:t>
            </a:r>
            <a:r>
              <a:rPr lang="en-US" sz="2400" i="1" dirty="0"/>
              <a:t>potential</a:t>
            </a:r>
            <a:r>
              <a:rPr lang="en-US" sz="2400" dirty="0"/>
              <a:t>) Enrichment analysis on these trajectory classes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6318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99456" y="133760"/>
            <a:ext cx="3530821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sz="4400" dirty="0">
                <a:solidFill>
                  <a:srgbClr val="181A0D"/>
                </a:solidFill>
                <a:cs typeface="NOOILK+FranklinGothic-Book"/>
              </a:rPr>
              <a:t>Data </a:t>
            </a:r>
            <a:r>
              <a:rPr lang="en-US" sz="4400" spc="-18" dirty="0">
                <a:solidFill>
                  <a:srgbClr val="181A0D"/>
                </a:solidFill>
                <a:cs typeface="NOOILK+FranklinGothic-Book"/>
              </a:rPr>
              <a:t>Overview</a:t>
            </a:r>
            <a:endParaRPr sz="4400" spc="-19" dirty="0">
              <a:solidFill>
                <a:srgbClr val="181A0D"/>
              </a:solidFill>
              <a:cs typeface="NOOILK+FranklinGothic-Boo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90F4B-F9EE-36A8-DC87-2A09F4C4F2EF}"/>
              </a:ext>
            </a:extLst>
          </p:cNvPr>
          <p:cNvSpPr txBox="1"/>
          <p:nvPr/>
        </p:nvSpPr>
        <p:spPr>
          <a:xfrm>
            <a:off x="911425" y="799541"/>
            <a:ext cx="4363158" cy="6222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8"/>
              </a:lnSpc>
            </a:pPr>
            <a:endParaRPr lang="en-US" b="1" dirty="0">
              <a:solidFill>
                <a:srgbClr val="181A0D"/>
              </a:solidFill>
            </a:endParaRPr>
          </a:p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b="1" dirty="0">
                <a:solidFill>
                  <a:srgbClr val="181A0D"/>
                </a:solidFill>
              </a:rPr>
              <a:t>Full Cohort N=209 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1407 observations per CpG site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790,944 CpGs</a:t>
            </a:r>
          </a:p>
          <a:p>
            <a:pPr lvl="1">
              <a:lnSpc>
                <a:spcPts val="2258"/>
              </a:lnSpc>
            </a:pPr>
            <a:endParaRPr lang="en-US" dirty="0">
              <a:solidFill>
                <a:srgbClr val="181A0D"/>
              </a:solidFill>
            </a:endParaRPr>
          </a:p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b="1" dirty="0">
                <a:solidFill>
                  <a:srgbClr val="181A0D"/>
                </a:solidFill>
              </a:rPr>
              <a:t>Age at Diagnosis (yrs)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Median (IQR): 2.5 (1.7, 3.6)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Min-Max : 0.9 – 6.3</a:t>
            </a:r>
          </a:p>
          <a:p>
            <a:pPr marL="285750" indent="-285750">
              <a:lnSpc>
                <a:spcPts val="2258"/>
              </a:lnSpc>
              <a:buFont typeface="Wingdings" pitchFamily="2" charset="2"/>
              <a:buChar char="Ø"/>
            </a:pPr>
            <a:endParaRPr lang="en-US" dirty="0">
              <a:solidFill>
                <a:srgbClr val="181A0D"/>
              </a:solidFill>
            </a:endParaRPr>
          </a:p>
          <a:p>
            <a:pPr marL="285750" indent="-285750">
              <a:lnSpc>
                <a:spcPts val="2258"/>
              </a:lnSpc>
              <a:buFont typeface="Wingdings" pitchFamily="2" charset="2"/>
              <a:buChar char="q"/>
            </a:pPr>
            <a:r>
              <a:rPr lang="en-US" b="1" dirty="0">
                <a:solidFill>
                  <a:srgbClr val="181A0D"/>
                </a:solidFill>
              </a:rPr>
              <a:t>Visits per subject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Median (IQR): 6.0 (</a:t>
            </a:r>
            <a:r>
              <a:rPr lang="el-GR" dirty="0">
                <a:solidFill>
                  <a:srgbClr val="181A0D"/>
                </a:solidFill>
              </a:rPr>
              <a:t>4</a:t>
            </a:r>
            <a:r>
              <a:rPr lang="en-US" dirty="0">
                <a:solidFill>
                  <a:srgbClr val="181A0D"/>
                </a:solidFill>
              </a:rPr>
              <a:t>.</a:t>
            </a:r>
            <a:r>
              <a:rPr lang="el-GR" dirty="0">
                <a:solidFill>
                  <a:srgbClr val="181A0D"/>
                </a:solidFill>
              </a:rPr>
              <a:t>0</a:t>
            </a:r>
            <a:r>
              <a:rPr lang="en-US" dirty="0">
                <a:solidFill>
                  <a:srgbClr val="181A0D"/>
                </a:solidFill>
              </a:rPr>
              <a:t>, </a:t>
            </a:r>
            <a:r>
              <a:rPr lang="el-GR" dirty="0">
                <a:solidFill>
                  <a:srgbClr val="181A0D"/>
                </a:solidFill>
              </a:rPr>
              <a:t>9</a:t>
            </a:r>
            <a:r>
              <a:rPr lang="en-US" dirty="0">
                <a:solidFill>
                  <a:srgbClr val="181A0D"/>
                </a:solidFill>
              </a:rPr>
              <a:t>.</a:t>
            </a:r>
            <a:r>
              <a:rPr lang="el-GR" dirty="0">
                <a:solidFill>
                  <a:srgbClr val="181A0D"/>
                </a:solidFill>
              </a:rPr>
              <a:t>0</a:t>
            </a:r>
            <a:r>
              <a:rPr lang="en-US" dirty="0">
                <a:solidFill>
                  <a:srgbClr val="181A0D"/>
                </a:solidFill>
              </a:rPr>
              <a:t>)</a:t>
            </a: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Min-Max: </a:t>
            </a:r>
            <a:r>
              <a:rPr lang="el-GR" dirty="0">
                <a:solidFill>
                  <a:srgbClr val="181A0D"/>
                </a:solidFill>
              </a:rPr>
              <a:t>1.0 – 20.0</a:t>
            </a:r>
            <a:endParaRPr lang="en-US" dirty="0">
              <a:solidFill>
                <a:srgbClr val="181A0D"/>
              </a:solidFill>
            </a:endParaRPr>
          </a:p>
          <a:p>
            <a:pPr marL="742950" lvl="1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≈89% have 2 observations or more</a:t>
            </a:r>
          </a:p>
          <a:p>
            <a:pPr marL="1200150" lvl="2" indent="-285750">
              <a:lnSpc>
                <a:spcPts val="2258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181A0D"/>
                </a:solidFill>
              </a:rPr>
              <a:t>≈77% have 3 or more</a:t>
            </a: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endParaRPr lang="en-US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1900" b="1" dirty="0"/>
              <a:t>Preprocessing: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CpG wise MAD outlier detection (≈ 1.25% flagged) 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Removed CpGs from </a:t>
            </a:r>
            <a:r>
              <a:rPr lang="en-US" sz="1900" dirty="0" err="1"/>
              <a:t>chrX</a:t>
            </a:r>
            <a:r>
              <a:rPr lang="en-US" sz="1900" dirty="0"/>
              <a:t> (≈17.5k)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i="1" dirty="0">
                <a:solidFill>
                  <a:srgbClr val="181A0D"/>
                </a:solidFill>
                <a:cs typeface="OAGDQN+FranklinGothic-BookItalic"/>
              </a:rPr>
              <a:t>Separate analysis??</a:t>
            </a:r>
          </a:p>
          <a:p>
            <a:pPr marL="285750" indent="-285750">
              <a:buFont typeface="Wingdings" pitchFamily="2" charset="2"/>
              <a:buChar char="§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F719C6-2667-F503-B7E2-AF72671FD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419" y="1124744"/>
            <a:ext cx="4344755" cy="424847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EAFE38E-4466-DB93-F7EE-BC6D4113B1FE}"/>
              </a:ext>
            </a:extLst>
          </p:cNvPr>
          <p:cNvSpPr/>
          <p:nvPr/>
        </p:nvSpPr>
        <p:spPr>
          <a:xfrm>
            <a:off x="6943799" y="4149080"/>
            <a:ext cx="4344755" cy="7920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FC24-18BA-BA6D-DF0C-6D832E1A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B125826-C9D2-9B4D-BDDF-546E6C4E1D1A}"/>
              </a:ext>
            </a:extLst>
          </p:cNvPr>
          <p:cNvSpPr/>
          <p:nvPr/>
        </p:nvSpPr>
        <p:spPr>
          <a:xfrm>
            <a:off x="0" y="11741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46496C5-A655-0170-FB31-2CCCCC7FC2E7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D2E9E50-8E7C-2749-4FE4-799FC84D6FB3}"/>
              </a:ext>
            </a:extLst>
          </p:cNvPr>
          <p:cNvSpPr txBox="1"/>
          <p:nvPr/>
        </p:nvSpPr>
        <p:spPr>
          <a:xfrm>
            <a:off x="1199456" y="181814"/>
            <a:ext cx="6600056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Method Development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FF24F-FB3F-44E3-DF0F-6B16EF1D748C}"/>
              </a:ext>
            </a:extLst>
          </p:cNvPr>
          <p:cNvSpPr txBox="1"/>
          <p:nvPr/>
        </p:nvSpPr>
        <p:spPr>
          <a:xfrm>
            <a:off x="829266" y="864195"/>
            <a:ext cx="6835501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19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1900" b="1" dirty="0"/>
              <a:t>Mixed-effects Spline Model per CpG site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Nonlinear age effects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Uses basis functions &amp; knots to allow a flexible fitted curve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Predicted methylation at age (a):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US" sz="1900" dirty="0"/>
          </a:p>
          <a:p>
            <a:pPr marL="800100" lvl="1" indent="-342900">
              <a:buFont typeface="Wingdings" pitchFamily="2" charset="2"/>
              <a:buChar char="Ø"/>
            </a:pPr>
            <a:endParaRPr lang="en-US" sz="1900" dirty="0"/>
          </a:p>
          <a:p>
            <a:pPr marL="800100" lvl="1" indent="-342900">
              <a:buFont typeface="Wingdings" pitchFamily="2" charset="2"/>
              <a:buChar char="Ø"/>
            </a:pPr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lvl="1"/>
            <a:endParaRPr lang="en-US" sz="1900" dirty="0"/>
          </a:p>
          <a:p>
            <a:pPr marL="342900" indent="-342900">
              <a:buFont typeface="Wingdings" pitchFamily="2" charset="2"/>
              <a:buChar char="q"/>
            </a:pPr>
            <a:r>
              <a:rPr lang="en-US" sz="1900" b="1" dirty="0"/>
              <a:t>Clustering CpGs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Predicted m-values at age (a) used as features for </a:t>
            </a:r>
            <a:r>
              <a:rPr lang="en-US" sz="1900" b="1" dirty="0"/>
              <a:t>K-means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1900" dirty="0"/>
              <a:t>Encodes a trajectory shape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1900" dirty="0"/>
              <a:t>Age grid (12 features): ~2.4mo – 6mo – 9mo – 1.2yrs – 1.5yrs – 1.75yrs – 2yrs – 2.5yrs -3yrs - 3.7yrs – 6.2yrs</a:t>
            </a:r>
          </a:p>
          <a:p>
            <a:pPr marL="800100" lvl="1" indent="-342900">
              <a:buFont typeface="Wingdings" pitchFamily="2" charset="2"/>
              <a:buChar char="Ø"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A2D65-F31C-2273-E31B-51E520CA0C69}"/>
              </a:ext>
            </a:extLst>
          </p:cNvPr>
          <p:cNvSpPr txBox="1"/>
          <p:nvPr/>
        </p:nvSpPr>
        <p:spPr>
          <a:xfrm>
            <a:off x="7906586" y="1071443"/>
            <a:ext cx="4106619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Pipeline:</a:t>
            </a:r>
          </a:p>
          <a:p>
            <a:pPr algn="ctr"/>
            <a:endParaRPr lang="en-US" b="1" u="sng" dirty="0"/>
          </a:p>
          <a:p>
            <a:pPr algn="ctr"/>
            <a:r>
              <a:rPr lang="en-US" dirty="0"/>
              <a:t>Longitudinal DNAm data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Preprocessing 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CpG-wise mixed-effects spline models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Predicted methylation trajectories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Trajectory filtering (remove flat CpGs)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Clustering of trajectories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Identify trajectory dynamics </a:t>
            </a:r>
          </a:p>
          <a:p>
            <a:pPr algn="ctr"/>
            <a:r>
              <a:rPr lang="en-US" dirty="0"/>
              <a:t>        ↓</a:t>
            </a:r>
          </a:p>
          <a:p>
            <a:pPr algn="ctr"/>
            <a:r>
              <a:rPr lang="en-US" dirty="0"/>
              <a:t>Enrichment??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485BA2-F1D4-3086-CCDC-CB1F414C5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588087"/>
              </p:ext>
            </p:extLst>
          </p:nvPr>
        </p:nvGraphicFramePr>
        <p:xfrm>
          <a:off x="805234" y="2514416"/>
          <a:ext cx="6961553" cy="15875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9770">
                  <a:extLst>
                    <a:ext uri="{9D8B030D-6E8A-4147-A177-3AD203B41FA5}">
                      <a16:colId xmlns:a16="http://schemas.microsoft.com/office/drawing/2014/main" val="1055111788"/>
                    </a:ext>
                  </a:extLst>
                </a:gridCol>
                <a:gridCol w="608882">
                  <a:extLst>
                    <a:ext uri="{9D8B030D-6E8A-4147-A177-3AD203B41FA5}">
                      <a16:colId xmlns:a16="http://schemas.microsoft.com/office/drawing/2014/main" val="1996214418"/>
                    </a:ext>
                  </a:extLst>
                </a:gridCol>
                <a:gridCol w="811844">
                  <a:extLst>
                    <a:ext uri="{9D8B030D-6E8A-4147-A177-3AD203B41FA5}">
                      <a16:colId xmlns:a16="http://schemas.microsoft.com/office/drawing/2014/main" val="2423357771"/>
                    </a:ext>
                  </a:extLst>
                </a:gridCol>
                <a:gridCol w="744188">
                  <a:extLst>
                    <a:ext uri="{9D8B030D-6E8A-4147-A177-3AD203B41FA5}">
                      <a16:colId xmlns:a16="http://schemas.microsoft.com/office/drawing/2014/main" val="3814847166"/>
                    </a:ext>
                  </a:extLst>
                </a:gridCol>
                <a:gridCol w="879496">
                  <a:extLst>
                    <a:ext uri="{9D8B030D-6E8A-4147-A177-3AD203B41FA5}">
                      <a16:colId xmlns:a16="http://schemas.microsoft.com/office/drawing/2014/main" val="2625532967"/>
                    </a:ext>
                  </a:extLst>
                </a:gridCol>
                <a:gridCol w="1014805">
                  <a:extLst>
                    <a:ext uri="{9D8B030D-6E8A-4147-A177-3AD203B41FA5}">
                      <a16:colId xmlns:a16="http://schemas.microsoft.com/office/drawing/2014/main" val="1453033223"/>
                    </a:ext>
                  </a:extLst>
                </a:gridCol>
                <a:gridCol w="1082457">
                  <a:extLst>
                    <a:ext uri="{9D8B030D-6E8A-4147-A177-3AD203B41FA5}">
                      <a16:colId xmlns:a16="http://schemas.microsoft.com/office/drawing/2014/main" val="1610510765"/>
                    </a:ext>
                  </a:extLst>
                </a:gridCol>
                <a:gridCol w="1150111">
                  <a:extLst>
                    <a:ext uri="{9D8B030D-6E8A-4147-A177-3AD203B41FA5}">
                      <a16:colId xmlns:a16="http://schemas.microsoft.com/office/drawing/2014/main" val="3251308170"/>
                    </a:ext>
                  </a:extLst>
                </a:gridCol>
              </a:tblGrid>
              <a:tr h="203200">
                <a:tc grid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Prediction dataset format-CpG Specific (cg123…)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911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maskid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visit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Age (a)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gender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cc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cell_prop1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cell_prop2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Prediction (p)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14154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Finland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0.42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0.11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3.66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79024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0.994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M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Sweden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0.35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0.18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2.32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5064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3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v1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0.994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..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F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Colorado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0.5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0.09</a:t>
                      </a:r>
                      <a:endParaRPr lang="en-US" sz="1400" kern="10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..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2.77</a:t>
                      </a:r>
                      <a:endParaRPr lang="en-US" sz="1400" kern="100" dirty="0">
                        <a:effectLst/>
                      </a:endParaRPr>
                    </a:p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…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5959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p &lt;- predict(model, </a:t>
                      </a:r>
                      <a:r>
                        <a:rPr lang="en-US" sz="1200" kern="0" dirty="0" err="1">
                          <a:effectLst/>
                        </a:rPr>
                        <a:t>newdata</a:t>
                      </a:r>
                      <a:r>
                        <a:rPr lang="en-US" sz="1200" kern="0" dirty="0">
                          <a:effectLst/>
                        </a:rPr>
                        <a:t> = </a:t>
                      </a:r>
                      <a:r>
                        <a:rPr lang="en-US" sz="1200" kern="0" dirty="0" err="1">
                          <a:effectLst/>
                        </a:rPr>
                        <a:t>nd</a:t>
                      </a:r>
                      <a:r>
                        <a:rPr lang="en-US" sz="1200" kern="0" dirty="0">
                          <a:effectLst/>
                        </a:rPr>
                        <a:t>, </a:t>
                      </a:r>
                      <a:r>
                        <a:rPr lang="en-US" sz="1200" kern="0" dirty="0" err="1">
                          <a:effectLst/>
                        </a:rPr>
                        <a:t>re.form</a:t>
                      </a:r>
                      <a:r>
                        <a:rPr lang="en-US" sz="1200" kern="0" dirty="0">
                          <a:effectLst/>
                        </a:rPr>
                        <a:t> = NA)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Avg:mean(p)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3.658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093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607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1F4F-C4A1-5DCD-093B-43B602390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0ED2152B-F77E-BEB4-57F0-B2ACE461CB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1269DE71-4C4A-2481-8C9A-D4D520EDFDB3}"/>
              </a:ext>
            </a:extLst>
          </p:cNvPr>
          <p:cNvSpPr txBox="1"/>
          <p:nvPr/>
        </p:nvSpPr>
        <p:spPr>
          <a:xfrm>
            <a:off x="1109484" y="864195"/>
            <a:ext cx="1029714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indent="-342900">
              <a:lnSpc>
                <a:spcPts val="2258"/>
              </a:lnSpc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lang="en-US" sz="2000" spc="-25" dirty="0">
              <a:solidFill>
                <a:srgbClr val="181A0D"/>
              </a:solidFill>
              <a:cs typeface="OAGDQN+FranklinGothic-BookItalic"/>
            </a:endParaRPr>
          </a:p>
          <a:p>
            <a:pPr marL="342900" marR="0" indent="-342900">
              <a:lnSpc>
                <a:spcPts val="2258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</a:pPr>
            <a:endParaRPr sz="2000" spc="-25" dirty="0">
              <a:solidFill>
                <a:srgbClr val="181A0D"/>
              </a:solidFill>
              <a:cs typeface="OAGDQN+FranklinGothic-BookItal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EF5F8-64D5-2AF1-CD9B-4F365AED5FC0}"/>
              </a:ext>
            </a:extLst>
          </p:cNvPr>
          <p:cNvSpPr txBox="1"/>
          <p:nvPr/>
        </p:nvSpPr>
        <p:spPr>
          <a:xfrm>
            <a:off x="992845" y="947748"/>
            <a:ext cx="949564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Clustering: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b="1" dirty="0"/>
              <a:t>”Gold Standard” CpGs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/>
              <a:t>Visually increasing, flat, &amp; decreasing CpGs were identified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/>
              <a:t>Perfect separation for increasing and decreasing CpGs - struggled with “flats”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Wingdings" pitchFamily="2" charset="2"/>
              <a:buChar char="q"/>
            </a:pPr>
            <a:r>
              <a:rPr lang="en-US" sz="2400" b="1" dirty="0"/>
              <a:t>Next Steps: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Remove “flat” CpGs based on predicted m-values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Identify CpG sites with unique trajectories (next slide)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Explore other clustering methods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en-US" sz="2400" dirty="0"/>
              <a:t>Run clustering algorithm on larger/complete CpG 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Wingdings" pitchFamily="2" charset="2"/>
              <a:buChar char="Ø"/>
            </a:pPr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3D6C11A-994F-4419-627D-27236D5C3066}"/>
              </a:ext>
            </a:extLst>
          </p:cNvPr>
          <p:cNvSpPr txBox="1"/>
          <p:nvPr/>
        </p:nvSpPr>
        <p:spPr>
          <a:xfrm>
            <a:off x="1109484" y="156212"/>
            <a:ext cx="8442900" cy="641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979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400" spc="-21" dirty="0">
                <a:solidFill>
                  <a:srgbClr val="181A0D"/>
                </a:solidFill>
                <a:cs typeface="KDMFEK+FranklinGothic-Book"/>
              </a:rPr>
              <a:t>Pre-liminary Results &amp; Next Steps</a:t>
            </a:r>
            <a:endParaRPr sz="4400" dirty="0">
              <a:solidFill>
                <a:srgbClr val="181A0D"/>
              </a:solidFill>
              <a:cs typeface="KDMFEK+FranklinGothic-Book"/>
            </a:endParaRPr>
          </a:p>
        </p:txBody>
      </p:sp>
    </p:spTree>
    <p:extLst>
      <p:ext uri="{BB962C8B-B14F-4D97-AF65-F5344CB8AC3E}">
        <p14:creationId xmlns:p14="http://schemas.microsoft.com/office/powerpoint/2010/main" val="267604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220A-E907-696F-E178-950E13497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>
            <a:extLst>
              <a:ext uri="{FF2B5EF4-FFF2-40B4-BE49-F238E27FC236}">
                <a16:creationId xmlns:a16="http://schemas.microsoft.com/office/drawing/2014/main" id="{1DE5CAE3-8C9D-5530-AE7E-1A8DEBA08D3C}"/>
              </a:ext>
            </a:extLst>
          </p:cNvPr>
          <p:cNvSpPr/>
          <p:nvPr/>
        </p:nvSpPr>
        <p:spPr>
          <a:xfrm>
            <a:off x="-17029" y="16706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5B65C5-97CD-6E92-81CB-853910C0A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556" y="262569"/>
            <a:ext cx="5115756" cy="3183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352B22-AE6C-8120-2AD6-BBB32C764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042" y="3568637"/>
            <a:ext cx="5148609" cy="3183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CA60C9-AE5A-D445-7C2D-F2B0519D2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154" y="3568637"/>
            <a:ext cx="5065008" cy="3116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B82BCE-B849-4E01-9C46-F5E0D60B0B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154" y="279918"/>
            <a:ext cx="5174394" cy="318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300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15426</TotalTime>
  <Words>513</Words>
  <Application>Microsoft Macintosh PowerPoint</Application>
  <PresentationFormat>Widescreen</PresentationFormat>
  <Paragraphs>154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KDMFEK+FranklinGothic-Book</vt:lpstr>
      <vt:lpstr>GEHAIV+FranklinGothic-Book</vt:lpstr>
      <vt:lpstr>Calibri</vt:lpstr>
      <vt:lpstr>NOOILK+FranklinGothic-Book</vt:lpstr>
      <vt:lpstr>Wingdings</vt:lpstr>
      <vt:lpstr>Aptos</vt:lpstr>
      <vt:lpstr>OAGDQN+FranklinGothic-BookItalic</vt:lpstr>
      <vt:lpstr>Arial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Ryan Summers</cp:lastModifiedBy>
  <cp:revision>626</cp:revision>
  <dcterms:modified xsi:type="dcterms:W3CDTF">2026-05-26T18:49:32Z</dcterms:modified>
</cp:coreProperties>
</file>