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0" r:id="rId2"/>
    <p:sldId id="266" r:id="rId3"/>
    <p:sldId id="262" r:id="rId4"/>
    <p:sldId id="271" r:id="rId5"/>
    <p:sldId id="269" r:id="rId6"/>
    <p:sldId id="268" r:id="rId7"/>
  </p:sldIdLst>
  <p:sldSz cx="12192000" cy="6858000"/>
  <p:notesSz cx="12192000" cy="6858000"/>
  <p:embeddedFontLst>
    <p:embeddedFont>
      <p:font typeface="GEHAIV+FranklinGothic-Book" panose="020F0502020204030204" pitchFamily="34" charset="0"/>
      <p:regular r:id="rId9"/>
      <p:bold r:id="rId10"/>
      <p:italic r:id="rId11"/>
      <p:boldItalic r:id="rId12"/>
    </p:embeddedFont>
    <p:embeddedFont>
      <p:font typeface="KDMFEK+FranklinGothic-Book" panose="02000500000000000000" pitchFamily="2" charset="0"/>
      <p:regular r:id="rId13"/>
    </p:embeddedFont>
    <p:embeddedFont>
      <p:font typeface="NOOILK+FranklinGothic-Book" panose="020F0502020204030204" pitchFamily="34" charset="0"/>
      <p:regular r:id="rId14"/>
      <p:bold r:id="rId15"/>
      <p:italic r:id="rId16"/>
      <p:boldItalic r:id="rId17"/>
    </p:embeddedFont>
    <p:embeddedFont>
      <p:font typeface="OAGDQN+FranklinGothic-BookItalic" panose="02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77"/>
    <p:restoredTop sz="73553"/>
  </p:normalViewPr>
  <p:slideViewPr>
    <p:cSldViewPr>
      <p:cViewPr varScale="1">
        <p:scale>
          <a:sx n="77" d="100"/>
          <a:sy n="77" d="100"/>
        </p:scale>
        <p:origin x="664" y="1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hypothesis generating / exploration stage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Apply Gaussian Mixtures Models (GMM) to identify </a:t>
            </a:r>
            <a:r>
              <a:rPr lang="en-US" sz="1200" dirty="0" err="1"/>
              <a:t>CpGs</a:t>
            </a:r>
            <a:r>
              <a:rPr lang="en-US" sz="1200" dirty="0"/>
              <a:t> with bi/trimodal trajectories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US" sz="1900" dirty="0"/>
              <a:t>CpG wise MAD outlier detection (≈ 1.25% flagged)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sz="1900" dirty="0"/>
              <a:t>Observations labeled as NA  - to avoid removing entire samples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4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F7B9-3213-C214-05BD-94803E32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6B63E-778F-7A3D-BE35-76B13B5E4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E1C8E-A541-39C1-195F-0D93CD996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Basis = building blocks of predicted trajectory curve – weighted combination of basis functions build the trajectory curve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Knots = partitions ages into regions that allows the trajectory curve to be more flexibility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Natural splines model nonlinear trajectories by combining smooth basis functions whose flexibility is guided by knot locations, allowing local curvature while preserving one continuous trajectory across 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i="0"/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i="0" dirty="0"/>
              <a:t>Predicted methylation values implicitly encode the trajectory shape </a:t>
            </a:r>
          </a:p>
          <a:p>
            <a:pPr marL="0" indent="0">
              <a:buFont typeface="Wingdings" pitchFamily="2" charset="2"/>
              <a:buNone/>
            </a:pPr>
            <a:endParaRPr lang="en-US" sz="1200" b="0" dirty="0"/>
          </a:p>
          <a:p>
            <a:pPr marL="0" indent="0">
              <a:buFont typeface="Wingdings" pitchFamily="2" charset="2"/>
              <a:buNone/>
            </a:pPr>
            <a:r>
              <a:rPr lang="en-US" sz="2000" b="0" dirty="0"/>
              <a:t>Methods based on Hossain et al &amp; James et al - Papers provide approaches to clustering longitudinal data</a:t>
            </a:r>
          </a:p>
          <a:p>
            <a:pPr marL="0" indent="0">
              <a:buFont typeface="Wingdings" pitchFamily="2" charset="2"/>
              <a:buNone/>
            </a:pPr>
            <a:endParaRPr lang="en-US" sz="2000" b="0" dirty="0"/>
          </a:p>
          <a:p>
            <a:pPr marL="0" indent="0">
              <a:buFont typeface="Wingdings" pitchFamily="2" charset="2"/>
              <a:buNone/>
            </a:pPr>
            <a:r>
              <a:rPr lang="en-US" sz="2000" b="0" dirty="0"/>
              <a:t>toy demonstration</a:t>
            </a:r>
            <a:endParaRPr lang="en-US" sz="24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D74DE-E173-AF8B-4535-090F9E5D5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58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5721-9186-7C1D-0356-C4911D36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CF301-5678-E099-68D4-8F20D222D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02FF-22DD-4789-E79E-E7CD83E38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Possible trajectory classes: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Increasing - decreasing – early change followed by plateau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Are </a:t>
            </a:r>
            <a:r>
              <a:rPr lang="en-US" dirty="0" err="1"/>
              <a:t>CpGs</a:t>
            </a:r>
            <a:r>
              <a:rPr lang="en-US" dirty="0"/>
              <a:t> near promoters, enhancers, TF regions, islands, </a:t>
            </a:r>
            <a:r>
              <a:rPr lang="en-US" dirty="0" err="1"/>
              <a:t>etc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Island/shore/shelf/open sea – near gene – regulatory elements - pathway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06E08-D868-E2C0-E27C-07F3E73D9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7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1355-85F6-CF92-4C8F-3100CC5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7C8D-BDAB-8FCD-FB0D-EDFDCED0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F0FD8-6C3E-4632-2908-448E25301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B22E7-FE82-EFCF-D187-6F41357A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2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8878F1E-7759-F15D-B13F-98BFACDFDDDD}"/>
              </a:ext>
            </a:extLst>
          </p:cNvPr>
          <p:cNvSpPr txBox="1"/>
          <p:nvPr/>
        </p:nvSpPr>
        <p:spPr>
          <a:xfrm>
            <a:off x="731404" y="2813447"/>
            <a:ext cx="107291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000" dirty="0"/>
              <a:t>Longitudinal </a:t>
            </a:r>
            <a:r>
              <a:rPr lang="en-US" sz="4000" dirty="0" err="1"/>
              <a:t>DNAm</a:t>
            </a:r>
            <a:r>
              <a:rPr lang="en-US" sz="4000" dirty="0"/>
              <a:t> Changes in TEDDY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AC4346B-9BA5-5EBE-0E5C-8DB3FB84A015}"/>
              </a:ext>
            </a:extLst>
          </p:cNvPr>
          <p:cNvSpPr txBox="1"/>
          <p:nvPr/>
        </p:nvSpPr>
        <p:spPr>
          <a:xfrm>
            <a:off x="4507565" y="3861048"/>
            <a:ext cx="317687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6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dirty="0">
                <a:solidFill>
                  <a:srgbClr val="181A0D"/>
                </a:solidFill>
                <a:cs typeface="GEHAIV+FranklinGothic-Book"/>
              </a:rPr>
              <a:t>Ryan Summers</a:t>
            </a:r>
            <a:endParaRPr sz="2300" dirty="0">
              <a:solidFill>
                <a:srgbClr val="181A0D"/>
              </a:solidFill>
              <a:cs typeface="GEHAIV+FranklinGothic-Book"/>
            </a:endParaRPr>
          </a:p>
          <a:p>
            <a:pPr marL="77914" marR="0" algn="ctr">
              <a:lnSpc>
                <a:spcPts val="2612"/>
              </a:lnSpc>
              <a:spcBef>
                <a:spcPts val="459"/>
              </a:spcBef>
              <a:spcAft>
                <a:spcPts val="0"/>
              </a:spcAft>
            </a:pPr>
            <a:r>
              <a:rPr lang="en-US" sz="2300" spc="-13" dirty="0">
                <a:solidFill>
                  <a:srgbClr val="181A0D"/>
                </a:solidFill>
                <a:cs typeface="GEHAIV+FranklinGothic-Book"/>
              </a:rPr>
              <a:t>6/18/26</a:t>
            </a:r>
            <a:endParaRPr sz="2300" spc="-13" dirty="0">
              <a:solidFill>
                <a:srgbClr val="181A0D"/>
              </a:solidFill>
              <a:cs typeface="GEHAIV+FranklinGothic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1741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465A1AE-082B-7AA1-0789-292CFE1C7BD7}"/>
              </a:ext>
            </a:extLst>
          </p:cNvPr>
          <p:cNvSpPr txBox="1"/>
          <p:nvPr/>
        </p:nvSpPr>
        <p:spPr>
          <a:xfrm>
            <a:off x="1199456" y="181814"/>
            <a:ext cx="6336704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Thesis Aims (</a:t>
            </a:r>
            <a:r>
              <a:rPr lang="en-US" sz="4000" i="1" spc="-21" dirty="0">
                <a:solidFill>
                  <a:srgbClr val="181A0D"/>
                </a:solidFill>
                <a:cs typeface="KDMFEK+FranklinGothic-Book"/>
              </a:rPr>
              <a:t>WIP</a:t>
            </a: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)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9439D-5EAD-7CCF-7E5F-FBC17430F772}"/>
              </a:ext>
            </a:extLst>
          </p:cNvPr>
          <p:cNvSpPr txBox="1"/>
          <p:nvPr/>
        </p:nvSpPr>
        <p:spPr>
          <a:xfrm>
            <a:off x="983432" y="1340768"/>
            <a:ext cx="1072919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Explore longitudinal modeling methods to identify a meaningful representation of methylation trajectories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Apply Gaussian Mixtures Models (GMM) to identify </a:t>
            </a:r>
            <a:r>
              <a:rPr lang="en-US" sz="2400" dirty="0" err="1"/>
              <a:t>CpGs</a:t>
            </a:r>
            <a:r>
              <a:rPr lang="en-US" sz="2400" dirty="0"/>
              <a:t> with bi/trimodal trajectories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Apply unsupervised machine learning techniques to cluster CpGs into classes based on similar trajectory profiles</a:t>
            </a:r>
          </a:p>
          <a:p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(</a:t>
            </a:r>
            <a:r>
              <a:rPr lang="en-US" sz="2400" i="1" dirty="0"/>
              <a:t>potential</a:t>
            </a:r>
            <a:r>
              <a:rPr lang="en-US" sz="2400" dirty="0"/>
              <a:t>) Perform enrichment analysis on trajectory classes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6318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33760"/>
            <a:ext cx="353082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NOOILK+FranklinGothic-Book"/>
              </a:rPr>
              <a:t>Data </a:t>
            </a:r>
            <a:r>
              <a:rPr lang="en-US" sz="4400" spc="-18" dirty="0">
                <a:solidFill>
                  <a:srgbClr val="181A0D"/>
                </a:solidFill>
                <a:cs typeface="NOOILK+FranklinGothic-Book"/>
              </a:rPr>
              <a:t>Overview</a:t>
            </a:r>
            <a:endParaRPr sz="4400" spc="-19" dirty="0">
              <a:solidFill>
                <a:srgbClr val="181A0D"/>
              </a:solidFill>
              <a:cs typeface="NOOILK+FranklinGothic-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90F4B-F9EE-36A8-DC87-2A09F4C4F2EF}"/>
              </a:ext>
            </a:extLst>
          </p:cNvPr>
          <p:cNvSpPr txBox="1"/>
          <p:nvPr/>
        </p:nvSpPr>
        <p:spPr>
          <a:xfrm>
            <a:off x="911425" y="746358"/>
            <a:ext cx="6005994" cy="572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8"/>
              </a:lnSpc>
            </a:pPr>
            <a:endParaRPr lang="en-US" b="1" dirty="0">
              <a:solidFill>
                <a:srgbClr val="181A0D"/>
              </a:solidFill>
            </a:endParaRP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TEDDY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Longitudinal nested case-control design</a:t>
            </a:r>
          </a:p>
          <a:p>
            <a:pPr marL="1200150" lvl="2" indent="-285750">
              <a:lnSpc>
                <a:spcPts val="2258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rgbClr val="181A0D"/>
                </a:solidFill>
              </a:rPr>
              <a:t>Matched on Age, CC, T1D FH, sex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N=209 (107 cases vs 102 controls)</a:t>
            </a:r>
          </a:p>
          <a:p>
            <a:pPr marL="1200150" lvl="2" indent="-285750">
              <a:lnSpc>
                <a:spcPts val="2258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rgbClr val="181A0D"/>
                </a:solidFill>
              </a:rPr>
              <a:t>Age range : 2.5mos to 6.2yrs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1407 observations per CpG site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790,944 </a:t>
            </a:r>
            <a:r>
              <a:rPr lang="en-US" sz="2000" dirty="0" err="1">
                <a:solidFill>
                  <a:srgbClr val="181A0D"/>
                </a:solidFill>
              </a:rPr>
              <a:t>CpGs</a:t>
            </a:r>
            <a:endParaRPr lang="en-US" sz="2000" dirty="0">
              <a:solidFill>
                <a:srgbClr val="181A0D"/>
              </a:solidFill>
            </a:endParaRP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&gt;250 clinical &amp; environmental variables</a:t>
            </a:r>
          </a:p>
          <a:p>
            <a:pPr>
              <a:lnSpc>
                <a:spcPts val="2258"/>
              </a:lnSpc>
            </a:pPr>
            <a:endParaRPr lang="en-US" sz="2000" dirty="0">
              <a:solidFill>
                <a:srgbClr val="181A0D"/>
              </a:solidFill>
            </a:endParaRP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Visits per subject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Median (IQR): 6.0 (</a:t>
            </a:r>
            <a:r>
              <a:rPr lang="el-GR" sz="2000" dirty="0">
                <a:solidFill>
                  <a:srgbClr val="181A0D"/>
                </a:solidFill>
              </a:rPr>
              <a:t>4</a:t>
            </a:r>
            <a:r>
              <a:rPr lang="en-US" sz="2000" dirty="0">
                <a:solidFill>
                  <a:srgbClr val="181A0D"/>
                </a:solidFill>
              </a:rPr>
              <a:t>.</a:t>
            </a:r>
            <a:r>
              <a:rPr lang="el-GR" sz="2000" dirty="0">
                <a:solidFill>
                  <a:srgbClr val="181A0D"/>
                </a:solidFill>
              </a:rPr>
              <a:t>0</a:t>
            </a:r>
            <a:r>
              <a:rPr lang="en-US" sz="2000" dirty="0">
                <a:solidFill>
                  <a:srgbClr val="181A0D"/>
                </a:solidFill>
              </a:rPr>
              <a:t>, </a:t>
            </a:r>
            <a:r>
              <a:rPr lang="el-GR" sz="2000" dirty="0">
                <a:solidFill>
                  <a:srgbClr val="181A0D"/>
                </a:solidFill>
              </a:rPr>
              <a:t>9</a:t>
            </a:r>
            <a:r>
              <a:rPr lang="en-US" sz="2000" dirty="0">
                <a:solidFill>
                  <a:srgbClr val="181A0D"/>
                </a:solidFill>
              </a:rPr>
              <a:t>.</a:t>
            </a:r>
            <a:r>
              <a:rPr lang="el-GR" sz="2000" dirty="0">
                <a:solidFill>
                  <a:srgbClr val="181A0D"/>
                </a:solidFill>
              </a:rPr>
              <a:t>0</a:t>
            </a:r>
            <a:r>
              <a:rPr lang="en-US" sz="2000" dirty="0">
                <a:solidFill>
                  <a:srgbClr val="181A0D"/>
                </a:solidFill>
              </a:rPr>
              <a:t>)</a:t>
            </a:r>
          </a:p>
          <a:p>
            <a:pPr marL="1200150" lvl="2" indent="-285750">
              <a:lnSpc>
                <a:spcPts val="2258"/>
              </a:lnSpc>
              <a:buFont typeface="Wingdings" pitchFamily="2" charset="2"/>
              <a:buChar char="§"/>
            </a:pPr>
            <a:r>
              <a:rPr lang="en-US" sz="2000" dirty="0">
                <a:solidFill>
                  <a:srgbClr val="181A0D"/>
                </a:solidFill>
              </a:rPr>
              <a:t>≈75% have 4 or more observations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Min-Max: </a:t>
            </a:r>
            <a:r>
              <a:rPr lang="el-GR" sz="2000" dirty="0">
                <a:solidFill>
                  <a:srgbClr val="181A0D"/>
                </a:solidFill>
              </a:rPr>
              <a:t>1.0 – 20.0</a:t>
            </a:r>
            <a:endParaRPr lang="en-US" sz="2000" dirty="0">
              <a:solidFill>
                <a:srgbClr val="181A0D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Preprocessing: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QC completed by </a:t>
            </a:r>
            <a:r>
              <a:rPr lang="en-US" sz="2000" dirty="0" err="1"/>
              <a:t>IVYomics</a:t>
            </a:r>
            <a:r>
              <a:rPr lang="en-US" sz="2000" dirty="0"/>
              <a:t> group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Removed CpGs from </a:t>
            </a:r>
            <a:r>
              <a:rPr lang="en-US" sz="2000" dirty="0" err="1"/>
              <a:t>chrX</a:t>
            </a:r>
            <a:r>
              <a:rPr lang="en-US" sz="2000" dirty="0"/>
              <a:t> (≈17.5k)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F719C6-2667-F503-B7E2-AF72671F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19" y="1124744"/>
            <a:ext cx="4344755" cy="4248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AFE38E-4466-DB93-F7EE-BC6D4113B1FE}"/>
              </a:ext>
            </a:extLst>
          </p:cNvPr>
          <p:cNvSpPr/>
          <p:nvPr/>
        </p:nvSpPr>
        <p:spPr>
          <a:xfrm>
            <a:off x="6943799" y="4149080"/>
            <a:ext cx="4344755" cy="7200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FC24-18BA-BA6D-DF0C-6D832E1A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B125826-C9D2-9B4D-BDDF-546E6C4E1D1A}"/>
              </a:ext>
            </a:extLst>
          </p:cNvPr>
          <p:cNvSpPr/>
          <p:nvPr/>
        </p:nvSpPr>
        <p:spPr>
          <a:xfrm>
            <a:off x="0" y="11741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46496C5-A655-0170-FB31-2CCCCC7FC2E7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D2E9E50-8E7C-2749-4FE4-799FC84D6FB3}"/>
              </a:ext>
            </a:extLst>
          </p:cNvPr>
          <p:cNvSpPr txBox="1"/>
          <p:nvPr/>
        </p:nvSpPr>
        <p:spPr>
          <a:xfrm>
            <a:off x="1199456" y="181814"/>
            <a:ext cx="6600056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Method Development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FF24F-FB3F-44E3-DF0F-6B16EF1D748C}"/>
              </a:ext>
            </a:extLst>
          </p:cNvPr>
          <p:cNvSpPr txBox="1"/>
          <p:nvPr/>
        </p:nvSpPr>
        <p:spPr>
          <a:xfrm>
            <a:off x="863655" y="654882"/>
            <a:ext cx="6835501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19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Mixed-effects Spline Model per CpG site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Nonlinear age effects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Uses basis functions &amp; knots to allow a flexible fitted curve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b="1" i="1" u="sng" dirty="0"/>
              <a:t>Predicted methylation </a:t>
            </a:r>
            <a:r>
              <a:rPr lang="en-US" sz="1900" dirty="0"/>
              <a:t>at age (a):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Identifying sub-trajectories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Apply </a:t>
            </a:r>
            <a:r>
              <a:rPr lang="en-US" sz="1900" b="1" dirty="0"/>
              <a:t>GMM</a:t>
            </a:r>
            <a:r>
              <a:rPr lang="en-US" sz="1900" dirty="0"/>
              <a:t> (</a:t>
            </a:r>
            <a:r>
              <a:rPr lang="en-US" sz="1900" i="1" dirty="0"/>
              <a:t>in progress</a:t>
            </a:r>
            <a:r>
              <a:rPr lang="en-US" sz="1900" dirty="0"/>
              <a:t>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Using subject-level intercepts per CpG site as features</a:t>
            </a:r>
          </a:p>
          <a:p>
            <a:pPr lvl="1"/>
            <a:endParaRPr lang="en-US" sz="19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Clustering </a:t>
            </a:r>
            <a:r>
              <a:rPr lang="en-US" sz="1900" b="1" dirty="0" err="1"/>
              <a:t>CpGs</a:t>
            </a:r>
            <a:endParaRPr lang="en-US" sz="19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Predicted m-values at age (a) used as features for </a:t>
            </a:r>
            <a:r>
              <a:rPr lang="en-US" sz="1900" b="1" dirty="0"/>
              <a:t>K-means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1900" dirty="0"/>
              <a:t>Encodes a trajectory shape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Age grid (12 features): ~2.4mo – 6mo – 9mo – 1.2yrs – 1.5yrs – 1.75yrs – 2yrs – 2.5yrs -3yrs - 3.7yrs – 6.2yrs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19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A2D65-F31C-2273-E31B-51E520CA0C69}"/>
              </a:ext>
            </a:extLst>
          </p:cNvPr>
          <p:cNvSpPr txBox="1"/>
          <p:nvPr/>
        </p:nvSpPr>
        <p:spPr>
          <a:xfrm>
            <a:off x="7906586" y="1071443"/>
            <a:ext cx="4106619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Pipeline:</a:t>
            </a:r>
          </a:p>
          <a:p>
            <a:pPr algn="ctr"/>
            <a:endParaRPr lang="en-US" b="1" u="sng" dirty="0"/>
          </a:p>
          <a:p>
            <a:pPr algn="ctr"/>
            <a:r>
              <a:rPr lang="en-US" dirty="0"/>
              <a:t>M-value Matrix (QC’d)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Preprocessing 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CpG-wise mixed-effects spline models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Predicted methylation trajectories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Trajectory filtering</a:t>
            </a:r>
          </a:p>
          <a:p>
            <a:pPr algn="ctr"/>
            <a:r>
              <a:rPr lang="en-US" dirty="0"/>
              <a:t> (flat CpGs &amp; sub-trajectories)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Cluster trajectories into classes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Identify trajectory dynamics 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Enrichment??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485BA2-F1D4-3086-CCDC-CB1F414C5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98529"/>
              </p:ext>
            </p:extLst>
          </p:nvPr>
        </p:nvGraphicFramePr>
        <p:xfrm>
          <a:off x="800628" y="2318263"/>
          <a:ext cx="6961553" cy="15875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9770">
                  <a:extLst>
                    <a:ext uri="{9D8B030D-6E8A-4147-A177-3AD203B41FA5}">
                      <a16:colId xmlns:a16="http://schemas.microsoft.com/office/drawing/2014/main" val="1055111788"/>
                    </a:ext>
                  </a:extLst>
                </a:gridCol>
                <a:gridCol w="608882">
                  <a:extLst>
                    <a:ext uri="{9D8B030D-6E8A-4147-A177-3AD203B41FA5}">
                      <a16:colId xmlns:a16="http://schemas.microsoft.com/office/drawing/2014/main" val="1996214418"/>
                    </a:ext>
                  </a:extLst>
                </a:gridCol>
                <a:gridCol w="811844">
                  <a:extLst>
                    <a:ext uri="{9D8B030D-6E8A-4147-A177-3AD203B41FA5}">
                      <a16:colId xmlns:a16="http://schemas.microsoft.com/office/drawing/2014/main" val="2423357771"/>
                    </a:ext>
                  </a:extLst>
                </a:gridCol>
                <a:gridCol w="744188">
                  <a:extLst>
                    <a:ext uri="{9D8B030D-6E8A-4147-A177-3AD203B41FA5}">
                      <a16:colId xmlns:a16="http://schemas.microsoft.com/office/drawing/2014/main" val="3814847166"/>
                    </a:ext>
                  </a:extLst>
                </a:gridCol>
                <a:gridCol w="879496">
                  <a:extLst>
                    <a:ext uri="{9D8B030D-6E8A-4147-A177-3AD203B41FA5}">
                      <a16:colId xmlns:a16="http://schemas.microsoft.com/office/drawing/2014/main" val="2625532967"/>
                    </a:ext>
                  </a:extLst>
                </a:gridCol>
                <a:gridCol w="1014805">
                  <a:extLst>
                    <a:ext uri="{9D8B030D-6E8A-4147-A177-3AD203B41FA5}">
                      <a16:colId xmlns:a16="http://schemas.microsoft.com/office/drawing/2014/main" val="1453033223"/>
                    </a:ext>
                  </a:extLst>
                </a:gridCol>
                <a:gridCol w="1082457">
                  <a:extLst>
                    <a:ext uri="{9D8B030D-6E8A-4147-A177-3AD203B41FA5}">
                      <a16:colId xmlns:a16="http://schemas.microsoft.com/office/drawing/2014/main" val="1610510765"/>
                    </a:ext>
                  </a:extLst>
                </a:gridCol>
                <a:gridCol w="1150111">
                  <a:extLst>
                    <a:ext uri="{9D8B030D-6E8A-4147-A177-3AD203B41FA5}">
                      <a16:colId xmlns:a16="http://schemas.microsoft.com/office/drawing/2014/main" val="3251308170"/>
                    </a:ext>
                  </a:extLst>
                </a:gridCol>
              </a:tblGrid>
              <a:tr h="203200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Prediction dataset format-CpG Specific (cg123…)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911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maskid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visit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Age (a)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gender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cc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cell_prop1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cell_prop2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Prediction (p)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415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Finland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0.42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0.11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3.66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7902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Sweden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0.35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0.18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2.32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506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v1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0.994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..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Colorado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0.5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0.09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2.77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…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959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p &lt;- predict(model, </a:t>
                      </a:r>
                      <a:r>
                        <a:rPr lang="en-US" sz="1200" kern="0" dirty="0" err="1">
                          <a:effectLst/>
                        </a:rPr>
                        <a:t>newdata</a:t>
                      </a:r>
                      <a:r>
                        <a:rPr lang="en-US" sz="1200" kern="0" dirty="0">
                          <a:effectLst/>
                        </a:rPr>
                        <a:t> = </a:t>
                      </a:r>
                      <a:r>
                        <a:rPr lang="en-US" sz="1200" kern="0" dirty="0" err="1">
                          <a:effectLst/>
                        </a:rPr>
                        <a:t>nd</a:t>
                      </a:r>
                      <a:r>
                        <a:rPr lang="en-US" sz="1200" kern="0" dirty="0">
                          <a:effectLst/>
                        </a:rPr>
                        <a:t>, </a:t>
                      </a:r>
                      <a:r>
                        <a:rPr lang="en-US" sz="1200" kern="0" dirty="0" err="1">
                          <a:effectLst/>
                        </a:rPr>
                        <a:t>re.form</a:t>
                      </a:r>
                      <a:r>
                        <a:rPr lang="en-US" sz="1200" kern="0" dirty="0">
                          <a:effectLst/>
                        </a:rPr>
                        <a:t> = NA)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Avg:mean(p)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3.658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093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07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F4F-C4A1-5DCD-093B-43B60239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0ED2152B-F77E-BEB4-57F0-B2ACE461C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269DE71-4C4A-2481-8C9A-D4D520EDFDB3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EF5F8-64D5-2AF1-CD9B-4F365AED5FC0}"/>
              </a:ext>
            </a:extLst>
          </p:cNvPr>
          <p:cNvSpPr txBox="1"/>
          <p:nvPr/>
        </p:nvSpPr>
        <p:spPr>
          <a:xfrm>
            <a:off x="992845" y="947748"/>
            <a:ext cx="9495643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Spline model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Age-grid was data drive – used quantiles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Struggled with unique trajectory shapes (last slide)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Clustering: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b="1" dirty="0"/>
              <a:t>”Gold Standard” CpGs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/>
              <a:t>Visually increasing, flat, &amp; decreasing CpGs were identified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Perfect separation for increasing and decreasing CpGs - struggled with “flats”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Next Steps: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Analyze controls only (</a:t>
            </a:r>
            <a:r>
              <a:rPr lang="en-US" sz="2400" i="1" dirty="0"/>
              <a:t>new direction</a:t>
            </a:r>
            <a:r>
              <a:rPr lang="en-US" sz="2400" dirty="0"/>
              <a:t>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Use GMM to identify CpGs with sub-trajectories – analyze separately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Cluster on remaining </a:t>
            </a:r>
            <a:r>
              <a:rPr lang="en-US" sz="2400" dirty="0" err="1"/>
              <a:t>CpGs</a:t>
            </a:r>
            <a:r>
              <a:rPr lang="en-US" sz="2400" dirty="0"/>
              <a:t> &amp; describe the trajectory classes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Interpret the type of </a:t>
            </a:r>
            <a:r>
              <a:rPr lang="en-US" sz="2400" dirty="0" err="1"/>
              <a:t>CpGs</a:t>
            </a:r>
            <a:r>
              <a:rPr lang="en-US" sz="2400" dirty="0"/>
              <a:t> in the clusters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3D6C11A-994F-4419-627D-27236D5C3066}"/>
              </a:ext>
            </a:extLst>
          </p:cNvPr>
          <p:cNvSpPr txBox="1"/>
          <p:nvPr/>
        </p:nvSpPr>
        <p:spPr>
          <a:xfrm>
            <a:off x="1109484" y="156212"/>
            <a:ext cx="8442900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Pre-liminary Results &amp; Next Steps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</p:spTree>
    <p:extLst>
      <p:ext uri="{BB962C8B-B14F-4D97-AF65-F5344CB8AC3E}">
        <p14:creationId xmlns:p14="http://schemas.microsoft.com/office/powerpoint/2010/main" val="267604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220A-E907-696F-E178-950E1349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DE5CAE3-8C9D-5530-AE7E-1A8DEBA08D3C}"/>
              </a:ext>
            </a:extLst>
          </p:cNvPr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49735A-4CE4-452E-A17A-032BD8F7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978" y="93375"/>
            <a:ext cx="5426761" cy="3258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E37A79-4CBE-5B47-FEBD-4DFA7A89E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54" y="163472"/>
            <a:ext cx="5160680" cy="3099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D5254F-15DC-1B16-2E28-DBEB6C829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978" y="3429000"/>
            <a:ext cx="5474485" cy="3258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C4500D-D76F-F1B4-2E52-4D3CE09E0C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083" y="3445706"/>
            <a:ext cx="5284822" cy="317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300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17595</TotalTime>
  <Words>643</Words>
  <Application>Microsoft Macintosh PowerPoint</Application>
  <PresentationFormat>Widescreen</PresentationFormat>
  <Paragraphs>172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Wingdings</vt:lpstr>
      <vt:lpstr>Aptos</vt:lpstr>
      <vt:lpstr>NOOILK+FranklinGothic-Book</vt:lpstr>
      <vt:lpstr>KDMFEK+FranklinGothic-Book</vt:lpstr>
      <vt:lpstr>GEHAIV+FranklinGothic-Book</vt:lpstr>
      <vt:lpstr>OAGDQN+FranklinGothic-BookItalic</vt:lpstr>
      <vt:lpstr>Arial</vt:lpstr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673</cp:revision>
  <cp:lastPrinted>2026-06-15T21:02:35Z</cp:lastPrinted>
  <dcterms:modified xsi:type="dcterms:W3CDTF">2026-06-15T22:20:15Z</dcterms:modified>
</cp:coreProperties>
</file>