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8"/>
  </p:notesMasterIdLst>
  <p:sldIdLst>
    <p:sldId id="260" r:id="rId2"/>
    <p:sldId id="266" r:id="rId3"/>
    <p:sldId id="262" r:id="rId4"/>
    <p:sldId id="271" r:id="rId5"/>
    <p:sldId id="269" r:id="rId6"/>
    <p:sldId id="268" r:id="rId7"/>
  </p:sldIdLst>
  <p:sldSz cx="12192000" cy="6858000"/>
  <p:notesSz cx="12192000" cy="6858000"/>
  <p:embeddedFontLst>
    <p:embeddedFont>
      <p:font typeface="GEHAIV+FranklinGothic-Book" panose="020F0502020204030204" pitchFamily="34" charset="0"/>
      <p:regular r:id="rId9"/>
      <p:bold r:id="rId10"/>
      <p:italic r:id="rId11"/>
      <p:boldItalic r:id="rId12"/>
    </p:embeddedFont>
    <p:embeddedFont>
      <p:font typeface="KDMFEK+FranklinGothic-Book" panose="02000500000000000000" pitchFamily="2" charset="0"/>
      <p:regular r:id="rId13"/>
    </p:embeddedFont>
    <p:embeddedFont>
      <p:font typeface="NOOILK+FranklinGothic-Book" panose="020F0502020204030204" pitchFamily="34" charset="0"/>
      <p:regular r:id="rId14"/>
      <p:bold r:id="rId15"/>
      <p:italic r:id="rId16"/>
      <p:boldItalic r:id="rId17"/>
    </p:embeddedFont>
    <p:embeddedFont>
      <p:font typeface="OAGDQN+FranklinGothic-BookItalic" panose="02000500000000000000" pitchFamily="2" charset="0"/>
      <p:regular r:id="rId1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>
          <p15:clr>
            <a:srgbClr val="A4A3A4"/>
          </p15:clr>
        </p15:guide>
        <p15:guide id="2" pos="2448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23"/>
    <p:restoredTop sz="73545"/>
  </p:normalViewPr>
  <p:slideViewPr>
    <p:cSldViewPr>
      <p:cViewPr varScale="1">
        <p:scale>
          <a:sx n="93" d="100"/>
          <a:sy n="93" d="100"/>
        </p:scale>
        <p:origin x="832" y="192"/>
      </p:cViewPr>
      <p:guideLst>
        <p:guide orient="horz" pos="3168"/>
        <p:guide pos="244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10" Type="http://schemas.openxmlformats.org/officeDocument/2006/relationships/font" Target="fonts/font2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F60B00-F7D7-A048-9DE8-3D2F737BCA40}" type="datetimeFigureOut">
              <a:rPr lang="en-US" smtClean="0"/>
              <a:t>6/18/26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055A014-AA40-5B4A-A5FD-4F58A1D7AE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81698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0084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hypothesis generating / exploration stage</a:t>
            </a:r>
            <a:endParaRPr lang="en-US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2978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342900" lvl="0" indent="-342900">
              <a:buFont typeface="Wingdings" pitchFamily="2" charset="2"/>
              <a:buChar char="Ø"/>
            </a:pPr>
            <a:r>
              <a:rPr lang="en-US" sz="1900" dirty="0"/>
              <a:t>CpG wise MAD outlier detection (≈ 1.25% flagged)</a:t>
            </a:r>
          </a:p>
          <a:p>
            <a:pPr marL="800100" lvl="1" indent="-342900">
              <a:buFont typeface="Wingdings" pitchFamily="2" charset="2"/>
              <a:buChar char="§"/>
            </a:pPr>
            <a:r>
              <a:rPr lang="en-US" sz="1900" dirty="0"/>
              <a:t>Observations labeled as NA  - to avoid removing entire samples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0451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EF7B9-3213-C214-05BD-94803E322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6B63E-778F-7A3D-BE35-76B13B5E4A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E1C8E-A541-39C1-195F-0D93CD9964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Basis = building blocks of predicted trajectory curve – weighted combination of basis functions build the trajectory curve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Knots = partitions ages into regions that allows the trajectory curve to be more flexibility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Natural splines model nonlinear trajectories by combining smooth basis functions whose flexibility is guided by knot locations, allowing local curvature while preserving one continuous trajectory across age.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i="0"/>
              <a:t> 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i="0" dirty="0"/>
              <a:t>Predicted methylation values implicitly encode the trajectory shape </a:t>
            </a:r>
          </a:p>
          <a:p>
            <a:pPr marL="0" indent="0">
              <a:buFont typeface="Wingdings" pitchFamily="2" charset="2"/>
              <a:buNone/>
            </a:pPr>
            <a:endParaRPr lang="en-US" sz="1200" b="0" dirty="0"/>
          </a:p>
          <a:p>
            <a:pPr marL="0" indent="0">
              <a:buFont typeface="Wingdings" pitchFamily="2" charset="2"/>
              <a:buNone/>
            </a:pPr>
            <a:r>
              <a:rPr lang="en-US" sz="2000" b="0" dirty="0"/>
              <a:t>Methods based on Hossain et al &amp; James et al - Papers provide approaches to clustering longitudinal data</a:t>
            </a:r>
          </a:p>
          <a:p>
            <a:pPr marL="0" indent="0">
              <a:buFont typeface="Wingdings" pitchFamily="2" charset="2"/>
              <a:buNone/>
            </a:pPr>
            <a:endParaRPr lang="en-US" sz="2000" b="0" dirty="0"/>
          </a:p>
          <a:p>
            <a:pPr marL="0" indent="0">
              <a:buFont typeface="Wingdings" pitchFamily="2" charset="2"/>
              <a:buNone/>
            </a:pPr>
            <a:r>
              <a:rPr lang="en-US" sz="2000" b="0" dirty="0"/>
              <a:t>toy demonstration</a:t>
            </a:r>
            <a:endParaRPr lang="en-US" sz="2400" b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D74DE-E173-AF8B-4535-090F9E5D5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0583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65721-9186-7C1D-0356-C4911D36B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1CF301-5678-E099-68D4-8F20D222D9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2402FF-22DD-4789-E79E-E7CD83E38A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Possible trajectory classes: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Increasing - decreasing – early change followed by plateau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Are </a:t>
            </a:r>
            <a:r>
              <a:rPr lang="en-US" dirty="0" err="1"/>
              <a:t>CpGs</a:t>
            </a:r>
            <a:r>
              <a:rPr lang="en-US" dirty="0"/>
              <a:t> near promoters, enhancers, TF regions, islands, </a:t>
            </a:r>
            <a:r>
              <a:rPr lang="en-US" dirty="0" err="1"/>
              <a:t>etc</a:t>
            </a: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Island/shore/shelf/open sea – near gene – regulatory elements - pathway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F06E08-D868-E2C0-E27C-07F3E73D99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1477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571355-85F6-CF92-4C8F-3100CC56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5B7C8D-BDAB-8FCD-FB0D-EDFDCED0C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BF0FD8-6C3E-4632-2908-448E253011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9B22E7-FE82-EFCF-D187-6F41357AC3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055A014-AA40-5B4A-A5FD-4F58A1D7AE4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8256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Title</a:t>
            </a:r>
          </a:p>
        </p:txBody>
      </p:sp>
      <p:sp>
        <p:nvSpPr>
          <p:cNvPr id="3" name="Text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6525B2-4347-4F72-BAF7-76B19438D329}" type="datetimeFigureOut">
              <a:rPr lang="en-US" smtClean="0"/>
              <a:t>6/18/26</a:t>
            </a:fld>
            <a:endParaRPr lang="en-US"/>
          </a:p>
        </p:txBody>
      </p:sp>
      <p:sp>
        <p:nvSpPr>
          <p:cNvPr id="5" name="Foot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F073CC-40D5-4B23-8DF0-9BD0A0C12F2C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7666" y="427735"/>
            <a:ext cx="6797992" cy="171094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7666" y="2459482"/>
            <a:ext cx="6797992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68130" y="9944862"/>
            <a:ext cx="2417063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7666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6/18/26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38394" y="9944862"/>
            <a:ext cx="1737264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5" name="object 3">
            <a:extLst>
              <a:ext uri="{FF2B5EF4-FFF2-40B4-BE49-F238E27FC236}">
                <a16:creationId xmlns:a16="http://schemas.microsoft.com/office/drawing/2014/main" id="{A8878F1E-7759-F15D-B13F-98BFACDFDDDD}"/>
              </a:ext>
            </a:extLst>
          </p:cNvPr>
          <p:cNvSpPr txBox="1"/>
          <p:nvPr/>
        </p:nvSpPr>
        <p:spPr>
          <a:xfrm>
            <a:off x="731404" y="2813447"/>
            <a:ext cx="10729192" cy="615553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4000" dirty="0"/>
              <a:t>Longitudinal </a:t>
            </a:r>
            <a:r>
              <a:rPr lang="en-US" sz="4000" dirty="0" err="1"/>
              <a:t>DNAm</a:t>
            </a:r>
            <a:r>
              <a:rPr lang="en-US" sz="4000" dirty="0"/>
              <a:t> Changes in TEDDY</a:t>
            </a:r>
          </a:p>
        </p:txBody>
      </p:sp>
      <p:sp>
        <p:nvSpPr>
          <p:cNvPr id="3" name="object 4">
            <a:extLst>
              <a:ext uri="{FF2B5EF4-FFF2-40B4-BE49-F238E27FC236}">
                <a16:creationId xmlns:a16="http://schemas.microsoft.com/office/drawing/2014/main" id="{1AC4346B-9BA5-5EBE-0E5C-8DB3FB84A015}"/>
              </a:ext>
            </a:extLst>
          </p:cNvPr>
          <p:cNvSpPr txBox="1"/>
          <p:nvPr/>
        </p:nvSpPr>
        <p:spPr>
          <a:xfrm>
            <a:off x="4507565" y="3861048"/>
            <a:ext cx="3176870" cy="7309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algn="ctr">
              <a:lnSpc>
                <a:spcPts val="2612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2300" dirty="0">
                <a:solidFill>
                  <a:srgbClr val="181A0D"/>
                </a:solidFill>
                <a:cs typeface="GEHAIV+FranklinGothic-Book"/>
              </a:rPr>
              <a:t>Ryan Summers</a:t>
            </a:r>
            <a:endParaRPr sz="2300" dirty="0">
              <a:solidFill>
                <a:srgbClr val="181A0D"/>
              </a:solidFill>
              <a:cs typeface="GEHAIV+FranklinGothic-Book"/>
            </a:endParaRPr>
          </a:p>
          <a:p>
            <a:pPr marL="77914" marR="0" algn="ctr">
              <a:lnSpc>
                <a:spcPts val="2612"/>
              </a:lnSpc>
              <a:spcBef>
                <a:spcPts val="459"/>
              </a:spcBef>
              <a:spcAft>
                <a:spcPts val="0"/>
              </a:spcAft>
            </a:pPr>
            <a:r>
              <a:rPr lang="en-US" sz="2300" spc="-13" dirty="0">
                <a:solidFill>
                  <a:srgbClr val="181A0D"/>
                </a:solidFill>
                <a:cs typeface="GEHAIV+FranklinGothic-Book"/>
              </a:rPr>
              <a:t>6/18/26</a:t>
            </a:r>
            <a:endParaRPr sz="2300" spc="-13" dirty="0">
              <a:solidFill>
                <a:srgbClr val="181A0D"/>
              </a:solidFill>
              <a:cs typeface="GEHAIV+FranklinGothic-Book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11741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CAB99B72-60A9-3C59-378B-AECE9E804BCF}"/>
              </a:ext>
            </a:extLst>
          </p:cNvPr>
          <p:cNvSpPr txBox="1"/>
          <p:nvPr/>
        </p:nvSpPr>
        <p:spPr>
          <a:xfrm>
            <a:off x="1109484" y="864195"/>
            <a:ext cx="10297144" cy="23852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465A1AE-082B-7AA1-0789-292CFE1C7BD7}"/>
              </a:ext>
            </a:extLst>
          </p:cNvPr>
          <p:cNvSpPr txBox="1"/>
          <p:nvPr/>
        </p:nvSpPr>
        <p:spPr>
          <a:xfrm>
            <a:off x="1199456" y="181814"/>
            <a:ext cx="6336704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spc="-21" dirty="0">
                <a:solidFill>
                  <a:srgbClr val="181A0D"/>
                </a:solidFill>
                <a:cs typeface="KDMFEK+FranklinGothic-Book"/>
              </a:rPr>
              <a:t>Thesis Aims (</a:t>
            </a:r>
            <a:r>
              <a:rPr lang="en-US" sz="4000" i="1" spc="-21" dirty="0">
                <a:solidFill>
                  <a:srgbClr val="181A0D"/>
                </a:solidFill>
                <a:cs typeface="KDMFEK+FranklinGothic-Book"/>
              </a:rPr>
              <a:t>WIP</a:t>
            </a:r>
            <a:r>
              <a:rPr lang="en-US" sz="4400" spc="-21" dirty="0">
                <a:solidFill>
                  <a:srgbClr val="181A0D"/>
                </a:solidFill>
                <a:cs typeface="KDMFEK+FranklinGothic-Book"/>
              </a:rPr>
              <a:t>)</a:t>
            </a:r>
            <a:endParaRPr sz="4400" dirty="0">
              <a:solidFill>
                <a:srgbClr val="181A0D"/>
              </a:solidFill>
              <a:cs typeface="KDMFEK+FranklinGothic-Book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C9439D-5EAD-7CCF-7E5F-FBC17430F772}"/>
              </a:ext>
            </a:extLst>
          </p:cNvPr>
          <p:cNvSpPr txBox="1"/>
          <p:nvPr/>
        </p:nvSpPr>
        <p:spPr>
          <a:xfrm>
            <a:off x="983432" y="1340768"/>
            <a:ext cx="10729192" cy="4431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q"/>
            </a:pPr>
            <a:r>
              <a:rPr lang="en-US" sz="2400"/>
              <a:t>Apply </a:t>
            </a:r>
            <a:r>
              <a:rPr lang="en-US" sz="2400" dirty="0"/>
              <a:t>longitudinal modeling methods to identify a meaningful representation of methylation trajectories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sz="2400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400" dirty="0"/>
              <a:t>Apply Gaussian Mixtures Models (GMM) to identify </a:t>
            </a:r>
            <a:r>
              <a:rPr lang="en-US" sz="2400" dirty="0" err="1"/>
              <a:t>CpGs</a:t>
            </a:r>
            <a:r>
              <a:rPr lang="en-US" sz="2400" dirty="0"/>
              <a:t> with bi/trimodal trajectories</a:t>
            </a:r>
          </a:p>
          <a:p>
            <a:pPr marL="285750" indent="-285750">
              <a:buFont typeface="Wingdings" pitchFamily="2" charset="2"/>
              <a:buChar char="q"/>
            </a:pPr>
            <a:endParaRPr lang="en-US" sz="2400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400" dirty="0"/>
              <a:t>Apply unsupervised machine learning techniques to cluster CpGs into classes based on similar trajectory profiles</a:t>
            </a:r>
          </a:p>
          <a:p>
            <a:endParaRPr lang="en-US" sz="2400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400" dirty="0"/>
              <a:t>(</a:t>
            </a:r>
            <a:r>
              <a:rPr lang="en-US" sz="2400" i="1" dirty="0"/>
              <a:t>potential</a:t>
            </a:r>
            <a:r>
              <a:rPr lang="en-US" sz="2400" dirty="0"/>
              <a:t>) Perform enrichment analysis on trajectory classes</a:t>
            </a:r>
          </a:p>
          <a:p>
            <a:pPr marL="342900" indent="-342900">
              <a:buFont typeface="Wingdings" pitchFamily="2" charset="2"/>
              <a:buChar char="Ø"/>
            </a:pPr>
            <a:endParaRPr lang="en-US" sz="2400" dirty="0"/>
          </a:p>
          <a:p>
            <a:pPr lvl="1"/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/>
          <p:cNvSpPr/>
          <p:nvPr/>
        </p:nvSpPr>
        <p:spPr>
          <a:xfrm>
            <a:off x="0" y="16318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199456" y="133760"/>
            <a:ext cx="3530821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sz="4400" dirty="0">
                <a:solidFill>
                  <a:srgbClr val="181A0D"/>
                </a:solidFill>
                <a:cs typeface="NOOILK+FranklinGothic-Book"/>
              </a:rPr>
              <a:t>Data </a:t>
            </a:r>
            <a:r>
              <a:rPr lang="en-US" sz="4400" spc="-18" dirty="0">
                <a:solidFill>
                  <a:srgbClr val="181A0D"/>
                </a:solidFill>
                <a:cs typeface="NOOILK+FranklinGothic-Book"/>
              </a:rPr>
              <a:t>Overview</a:t>
            </a:r>
            <a:endParaRPr sz="4400" spc="-19" dirty="0">
              <a:solidFill>
                <a:srgbClr val="181A0D"/>
              </a:solidFill>
              <a:cs typeface="NOOILK+FranklinGothic-Book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F490F4B-F9EE-36A8-DC87-2A09F4C4F2EF}"/>
              </a:ext>
            </a:extLst>
          </p:cNvPr>
          <p:cNvSpPr txBox="1"/>
          <p:nvPr/>
        </p:nvSpPr>
        <p:spPr>
          <a:xfrm>
            <a:off x="911425" y="746358"/>
            <a:ext cx="6005994" cy="6037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58"/>
              </a:lnSpc>
            </a:pPr>
            <a:endParaRPr lang="en-US" b="1" dirty="0">
              <a:solidFill>
                <a:srgbClr val="181A0D"/>
              </a:solidFill>
            </a:endParaRPr>
          </a:p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b="1" dirty="0">
                <a:solidFill>
                  <a:srgbClr val="181A0D"/>
                </a:solidFill>
              </a:rPr>
              <a:t>TEDDY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Longitudinal nested case-control design</a:t>
            </a:r>
          </a:p>
          <a:p>
            <a:pPr marL="1200150" lvl="2" indent="-285750">
              <a:lnSpc>
                <a:spcPts val="2258"/>
              </a:lnSpc>
              <a:buFont typeface="Wingdings" pitchFamily="2" charset="2"/>
              <a:buChar char="§"/>
            </a:pPr>
            <a:r>
              <a:rPr lang="en-US" sz="2000" dirty="0">
                <a:solidFill>
                  <a:srgbClr val="181A0D"/>
                </a:solidFill>
              </a:rPr>
              <a:t>Matched on Age, CC, T1D FH, sex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N=209 (107 cases vs 102 controls)</a:t>
            </a:r>
          </a:p>
          <a:p>
            <a:pPr marL="1200150" lvl="2" indent="-285750">
              <a:lnSpc>
                <a:spcPts val="2258"/>
              </a:lnSpc>
              <a:buFont typeface="Wingdings" pitchFamily="2" charset="2"/>
              <a:buChar char="§"/>
            </a:pPr>
            <a:r>
              <a:rPr lang="en-US" sz="2000" dirty="0">
                <a:solidFill>
                  <a:srgbClr val="181A0D"/>
                </a:solidFill>
              </a:rPr>
              <a:t>Age range : 2.5mos to 6.2yrs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1407 observations per CpG site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790,944 </a:t>
            </a:r>
            <a:r>
              <a:rPr lang="en-US" sz="2000" dirty="0" err="1">
                <a:solidFill>
                  <a:srgbClr val="181A0D"/>
                </a:solidFill>
              </a:rPr>
              <a:t>CpGs</a:t>
            </a:r>
            <a:endParaRPr lang="en-US" sz="2000" dirty="0">
              <a:solidFill>
                <a:srgbClr val="181A0D"/>
              </a:solidFill>
            </a:endParaRP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&gt;250 clinical &amp; environmental variables</a:t>
            </a:r>
          </a:p>
          <a:p>
            <a:pPr>
              <a:lnSpc>
                <a:spcPts val="2258"/>
              </a:lnSpc>
            </a:pPr>
            <a:endParaRPr lang="en-US" sz="2000" dirty="0">
              <a:solidFill>
                <a:srgbClr val="181A0D"/>
              </a:solidFill>
            </a:endParaRPr>
          </a:p>
          <a:p>
            <a:pPr marL="285750" indent="-285750">
              <a:lnSpc>
                <a:spcPts val="2258"/>
              </a:lnSpc>
              <a:buFont typeface="Wingdings" pitchFamily="2" charset="2"/>
              <a:buChar char="q"/>
            </a:pPr>
            <a:r>
              <a:rPr lang="en-US" sz="2000" b="1" dirty="0">
                <a:solidFill>
                  <a:srgbClr val="181A0D"/>
                </a:solidFill>
              </a:rPr>
              <a:t>Visits per subject (</a:t>
            </a:r>
            <a:r>
              <a:rPr lang="en-US" sz="2000" b="1" dirty="0" err="1">
                <a:solidFill>
                  <a:srgbClr val="181A0D"/>
                </a:solidFill>
              </a:rPr>
              <a:t>obs</a:t>
            </a:r>
            <a:r>
              <a:rPr lang="en-US" sz="2000" b="1" dirty="0">
                <a:solidFill>
                  <a:srgbClr val="181A0D"/>
                </a:solidFill>
              </a:rPr>
              <a:t>)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Median (IQR): 6.0 (</a:t>
            </a:r>
            <a:r>
              <a:rPr lang="el-GR" sz="2000" dirty="0">
                <a:solidFill>
                  <a:srgbClr val="181A0D"/>
                </a:solidFill>
              </a:rPr>
              <a:t>4</a:t>
            </a:r>
            <a:r>
              <a:rPr lang="en-US" sz="2000" dirty="0">
                <a:solidFill>
                  <a:srgbClr val="181A0D"/>
                </a:solidFill>
              </a:rPr>
              <a:t>.</a:t>
            </a:r>
            <a:r>
              <a:rPr lang="el-GR" sz="2000" dirty="0">
                <a:solidFill>
                  <a:srgbClr val="181A0D"/>
                </a:solidFill>
              </a:rPr>
              <a:t>0</a:t>
            </a:r>
            <a:r>
              <a:rPr lang="en-US" sz="2000" dirty="0">
                <a:solidFill>
                  <a:srgbClr val="181A0D"/>
                </a:solidFill>
              </a:rPr>
              <a:t>, </a:t>
            </a:r>
            <a:r>
              <a:rPr lang="el-GR" sz="2000" dirty="0">
                <a:solidFill>
                  <a:srgbClr val="181A0D"/>
                </a:solidFill>
              </a:rPr>
              <a:t>9</a:t>
            </a:r>
            <a:r>
              <a:rPr lang="en-US" sz="2000" dirty="0">
                <a:solidFill>
                  <a:srgbClr val="181A0D"/>
                </a:solidFill>
              </a:rPr>
              <a:t>.</a:t>
            </a:r>
            <a:r>
              <a:rPr lang="el-GR" sz="2000" dirty="0">
                <a:solidFill>
                  <a:srgbClr val="181A0D"/>
                </a:solidFill>
              </a:rPr>
              <a:t>0</a:t>
            </a:r>
            <a:r>
              <a:rPr lang="en-US" sz="2000" dirty="0">
                <a:solidFill>
                  <a:srgbClr val="181A0D"/>
                </a:solidFill>
              </a:rPr>
              <a:t>)</a:t>
            </a:r>
          </a:p>
          <a:p>
            <a:pPr marL="1200150" lvl="2" indent="-285750">
              <a:lnSpc>
                <a:spcPts val="2258"/>
              </a:lnSpc>
              <a:buFont typeface="Wingdings" pitchFamily="2" charset="2"/>
              <a:buChar char="§"/>
            </a:pPr>
            <a:r>
              <a:rPr lang="en-US" sz="2000" dirty="0">
                <a:solidFill>
                  <a:srgbClr val="181A0D"/>
                </a:solidFill>
              </a:rPr>
              <a:t>≈75% have 4 or more observations</a:t>
            </a:r>
          </a:p>
          <a:p>
            <a:pPr marL="742950" lvl="1" indent="-285750">
              <a:lnSpc>
                <a:spcPts val="2258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181A0D"/>
                </a:solidFill>
              </a:rPr>
              <a:t>Min-Max: </a:t>
            </a:r>
            <a:r>
              <a:rPr lang="el-GR" sz="2000" dirty="0">
                <a:solidFill>
                  <a:srgbClr val="181A0D"/>
                </a:solidFill>
              </a:rPr>
              <a:t>1.0 – 20.0</a:t>
            </a:r>
            <a:endParaRPr lang="en-US" sz="2000" dirty="0">
              <a:solidFill>
                <a:srgbClr val="181A0D"/>
              </a:solidFill>
            </a:endParaRPr>
          </a:p>
          <a:p>
            <a:pPr marL="285750" indent="-285750">
              <a:buFont typeface="Wingdings" pitchFamily="2" charset="2"/>
              <a:buChar char="Ø"/>
            </a:pPr>
            <a:endParaRPr lang="en-US" sz="20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2000" b="1" dirty="0"/>
              <a:t>Preprocessing: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QC completed by </a:t>
            </a:r>
            <a:r>
              <a:rPr lang="en-US" sz="2000" dirty="0" err="1"/>
              <a:t>IVYomics</a:t>
            </a:r>
            <a:r>
              <a:rPr lang="en-US" sz="2000" dirty="0"/>
              <a:t> group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Removed CpGs from </a:t>
            </a:r>
            <a:r>
              <a:rPr lang="en-US" sz="2000" dirty="0" err="1"/>
              <a:t>chrX</a:t>
            </a:r>
            <a:r>
              <a:rPr lang="en-US" sz="2000" dirty="0"/>
              <a:t> (≈17.5k)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000" dirty="0"/>
              <a:t>Outlier detection (TBD)</a:t>
            </a:r>
          </a:p>
          <a:p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F719C6-2667-F503-B7E2-AF72671FD2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7419" y="1124744"/>
            <a:ext cx="4344755" cy="4248472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6EAFE38E-4466-DB93-F7EE-BC6D4113B1FE}"/>
              </a:ext>
            </a:extLst>
          </p:cNvPr>
          <p:cNvSpPr/>
          <p:nvPr/>
        </p:nvSpPr>
        <p:spPr>
          <a:xfrm>
            <a:off x="6943799" y="4149080"/>
            <a:ext cx="4344755" cy="72008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0FC24-18BA-BA6D-DF0C-6D832E1A1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>
            <a:extLst>
              <a:ext uri="{FF2B5EF4-FFF2-40B4-BE49-F238E27FC236}">
                <a16:creationId xmlns:a16="http://schemas.microsoft.com/office/drawing/2014/main" id="{1B125826-C9D2-9B4D-BDDF-546E6C4E1D1A}"/>
              </a:ext>
            </a:extLst>
          </p:cNvPr>
          <p:cNvSpPr/>
          <p:nvPr/>
        </p:nvSpPr>
        <p:spPr>
          <a:xfrm>
            <a:off x="0" y="11741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D46496C5-A655-0170-FB31-2CCCCC7FC2E7}"/>
              </a:ext>
            </a:extLst>
          </p:cNvPr>
          <p:cNvSpPr txBox="1"/>
          <p:nvPr/>
        </p:nvSpPr>
        <p:spPr>
          <a:xfrm>
            <a:off x="1109484" y="864195"/>
            <a:ext cx="10297144" cy="23852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sp>
        <p:nvSpPr>
          <p:cNvPr id="4" name="object 3">
            <a:extLst>
              <a:ext uri="{FF2B5EF4-FFF2-40B4-BE49-F238E27FC236}">
                <a16:creationId xmlns:a16="http://schemas.microsoft.com/office/drawing/2014/main" id="{5D2E9E50-8E7C-2749-4FE4-799FC84D6FB3}"/>
              </a:ext>
            </a:extLst>
          </p:cNvPr>
          <p:cNvSpPr txBox="1"/>
          <p:nvPr/>
        </p:nvSpPr>
        <p:spPr>
          <a:xfrm>
            <a:off x="1199456" y="181814"/>
            <a:ext cx="6600056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spc="-21" dirty="0">
                <a:solidFill>
                  <a:srgbClr val="181A0D"/>
                </a:solidFill>
                <a:cs typeface="KDMFEK+FranklinGothic-Book"/>
              </a:rPr>
              <a:t>Method Development</a:t>
            </a:r>
            <a:endParaRPr sz="4400" dirty="0">
              <a:solidFill>
                <a:srgbClr val="181A0D"/>
              </a:solidFill>
              <a:cs typeface="KDMFEK+FranklinGothic-Book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FF24F-FB3F-44E3-DF0F-6B16EF1D748C}"/>
              </a:ext>
            </a:extLst>
          </p:cNvPr>
          <p:cNvSpPr txBox="1"/>
          <p:nvPr/>
        </p:nvSpPr>
        <p:spPr>
          <a:xfrm>
            <a:off x="863655" y="654882"/>
            <a:ext cx="6835501" cy="68941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US" sz="19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1900" b="1" dirty="0"/>
              <a:t>Mixed-effects Spline Model per CpG site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dirty="0"/>
              <a:t>Nonlinear age effects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dirty="0"/>
              <a:t>Uses basis functions &amp; knots to allow a flexible fitted curve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b="1" i="1" u="sng" dirty="0"/>
              <a:t>Predicted methylation </a:t>
            </a:r>
            <a:r>
              <a:rPr lang="en-US" sz="1900" dirty="0"/>
              <a:t>at age (a):</a:t>
            </a:r>
          </a:p>
          <a:p>
            <a:pPr marL="800100" lvl="1" indent="-342900">
              <a:buFont typeface="Wingdings" pitchFamily="2" charset="2"/>
              <a:buChar char="Ø"/>
            </a:pPr>
            <a:endParaRPr lang="en-US" sz="1900" dirty="0"/>
          </a:p>
          <a:p>
            <a:pPr marL="800100" lvl="1" indent="-342900">
              <a:buFont typeface="Wingdings" pitchFamily="2" charset="2"/>
              <a:buChar char="Ø"/>
            </a:pPr>
            <a:endParaRPr lang="en-US" sz="1900" dirty="0"/>
          </a:p>
          <a:p>
            <a:pPr marL="800100" lvl="1" indent="-342900">
              <a:buFont typeface="Wingdings" pitchFamily="2" charset="2"/>
              <a:buChar char="Ø"/>
            </a:pPr>
            <a:endParaRPr lang="en-US" sz="1900" dirty="0"/>
          </a:p>
          <a:p>
            <a:pPr lvl="1"/>
            <a:endParaRPr lang="en-US" sz="1900" dirty="0"/>
          </a:p>
          <a:p>
            <a:pPr lvl="1"/>
            <a:endParaRPr lang="en-US" sz="1900" dirty="0"/>
          </a:p>
          <a:p>
            <a:pPr lvl="1"/>
            <a:endParaRPr lang="en-US" sz="1900" dirty="0"/>
          </a:p>
          <a:p>
            <a:pPr lvl="1"/>
            <a:endParaRPr lang="en-US" sz="19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1900" b="1" dirty="0"/>
              <a:t>Identifying sub-trajectories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dirty="0"/>
              <a:t>Apply </a:t>
            </a:r>
            <a:r>
              <a:rPr lang="en-US" sz="1900" b="1" dirty="0"/>
              <a:t>GMM</a:t>
            </a:r>
            <a:r>
              <a:rPr lang="en-US" sz="1900" dirty="0"/>
              <a:t> (</a:t>
            </a:r>
            <a:r>
              <a:rPr lang="en-US" sz="1900" i="1" dirty="0"/>
              <a:t>in progress</a:t>
            </a:r>
            <a:r>
              <a:rPr lang="en-US" sz="1900" dirty="0"/>
              <a:t>)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dirty="0"/>
              <a:t>Using subject-level intercepts per CpG site as features</a:t>
            </a:r>
          </a:p>
          <a:p>
            <a:pPr lvl="1"/>
            <a:endParaRPr lang="en-US" sz="1900" dirty="0"/>
          </a:p>
          <a:p>
            <a:pPr marL="342900" indent="-342900">
              <a:buFont typeface="Wingdings" pitchFamily="2" charset="2"/>
              <a:buChar char="q"/>
            </a:pPr>
            <a:r>
              <a:rPr lang="en-US" sz="1900" b="1" dirty="0"/>
              <a:t>Clustering </a:t>
            </a:r>
            <a:r>
              <a:rPr lang="en-US" sz="1900" b="1" dirty="0" err="1"/>
              <a:t>CpGs</a:t>
            </a:r>
            <a:endParaRPr lang="en-US" sz="1900" b="1" dirty="0"/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dirty="0"/>
              <a:t>Predicted m-values at age (a) used as features for </a:t>
            </a:r>
            <a:r>
              <a:rPr lang="en-US" sz="1900" b="1" dirty="0"/>
              <a:t>K-means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1900" dirty="0"/>
              <a:t>Encodes a trajectory shape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1900" dirty="0"/>
              <a:t>Age grid (12 features): ~2.4mo – 6mo – 9mo – 1.2yrs – 1.5yrs – 1.75yrs – 2yrs – 2.5yrs -3yrs - 3.7yrs – 6.2yrs</a:t>
            </a:r>
          </a:p>
          <a:p>
            <a:pPr marL="342900" indent="-342900">
              <a:buFont typeface="Wingdings" pitchFamily="2" charset="2"/>
              <a:buChar char="q"/>
            </a:pPr>
            <a:endParaRPr lang="en-US" sz="1900" dirty="0"/>
          </a:p>
          <a:p>
            <a:pPr marL="800100" lvl="1" indent="-342900">
              <a:buFont typeface="Wingdings" pitchFamily="2" charset="2"/>
              <a:buChar char="Ø"/>
            </a:pPr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5A2D65-F31C-2273-E31B-51E520CA0C69}"/>
              </a:ext>
            </a:extLst>
          </p:cNvPr>
          <p:cNvSpPr txBox="1"/>
          <p:nvPr/>
        </p:nvSpPr>
        <p:spPr>
          <a:xfrm>
            <a:off x="7906586" y="1071443"/>
            <a:ext cx="4106619" cy="507831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u="sng" dirty="0"/>
              <a:t>Pipeline:</a:t>
            </a:r>
          </a:p>
          <a:p>
            <a:pPr algn="ctr"/>
            <a:endParaRPr lang="en-US" b="1" u="sng" dirty="0"/>
          </a:p>
          <a:p>
            <a:pPr algn="ctr"/>
            <a:r>
              <a:rPr lang="en-US" dirty="0"/>
              <a:t>M-value Matrix (QC’d)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Preprocessing 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CpG-wise mixed-effects spline models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Predicted methylation trajectories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Trajectory filtering</a:t>
            </a:r>
          </a:p>
          <a:p>
            <a:pPr algn="ctr"/>
            <a:r>
              <a:rPr lang="en-US" dirty="0"/>
              <a:t> (flat CpGs &amp; sub-trajectories)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Cluster trajectories into classes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Identify trajectory dynamics </a:t>
            </a:r>
          </a:p>
          <a:p>
            <a:pPr algn="ctr"/>
            <a:r>
              <a:rPr lang="en-US" dirty="0"/>
              <a:t>        ↓</a:t>
            </a:r>
          </a:p>
          <a:p>
            <a:pPr algn="ctr"/>
            <a:r>
              <a:rPr lang="en-US" dirty="0"/>
              <a:t>Enrichment??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5485BA2-F1D4-3086-CCDC-CB1F414C59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698529"/>
              </p:ext>
            </p:extLst>
          </p:nvPr>
        </p:nvGraphicFramePr>
        <p:xfrm>
          <a:off x="800628" y="2318263"/>
          <a:ext cx="6961553" cy="1587564"/>
        </p:xfrm>
        <a:graphic>
          <a:graphicData uri="http://schemas.openxmlformats.org/drawingml/2006/table">
            <a:tbl>
              <a:tblPr firstRow="1" firstCol="1" bandRow="1">
                <a:tableStyleId>{5940675A-B579-460E-94D1-54222C63F5DA}</a:tableStyleId>
              </a:tblPr>
              <a:tblGrid>
                <a:gridCol w="669770">
                  <a:extLst>
                    <a:ext uri="{9D8B030D-6E8A-4147-A177-3AD203B41FA5}">
                      <a16:colId xmlns:a16="http://schemas.microsoft.com/office/drawing/2014/main" val="1055111788"/>
                    </a:ext>
                  </a:extLst>
                </a:gridCol>
                <a:gridCol w="608882">
                  <a:extLst>
                    <a:ext uri="{9D8B030D-6E8A-4147-A177-3AD203B41FA5}">
                      <a16:colId xmlns:a16="http://schemas.microsoft.com/office/drawing/2014/main" val="1996214418"/>
                    </a:ext>
                  </a:extLst>
                </a:gridCol>
                <a:gridCol w="811844">
                  <a:extLst>
                    <a:ext uri="{9D8B030D-6E8A-4147-A177-3AD203B41FA5}">
                      <a16:colId xmlns:a16="http://schemas.microsoft.com/office/drawing/2014/main" val="2423357771"/>
                    </a:ext>
                  </a:extLst>
                </a:gridCol>
                <a:gridCol w="744188">
                  <a:extLst>
                    <a:ext uri="{9D8B030D-6E8A-4147-A177-3AD203B41FA5}">
                      <a16:colId xmlns:a16="http://schemas.microsoft.com/office/drawing/2014/main" val="3814847166"/>
                    </a:ext>
                  </a:extLst>
                </a:gridCol>
                <a:gridCol w="879496">
                  <a:extLst>
                    <a:ext uri="{9D8B030D-6E8A-4147-A177-3AD203B41FA5}">
                      <a16:colId xmlns:a16="http://schemas.microsoft.com/office/drawing/2014/main" val="2625532967"/>
                    </a:ext>
                  </a:extLst>
                </a:gridCol>
                <a:gridCol w="1014805">
                  <a:extLst>
                    <a:ext uri="{9D8B030D-6E8A-4147-A177-3AD203B41FA5}">
                      <a16:colId xmlns:a16="http://schemas.microsoft.com/office/drawing/2014/main" val="1453033223"/>
                    </a:ext>
                  </a:extLst>
                </a:gridCol>
                <a:gridCol w="1082457">
                  <a:extLst>
                    <a:ext uri="{9D8B030D-6E8A-4147-A177-3AD203B41FA5}">
                      <a16:colId xmlns:a16="http://schemas.microsoft.com/office/drawing/2014/main" val="1610510765"/>
                    </a:ext>
                  </a:extLst>
                </a:gridCol>
                <a:gridCol w="1150111">
                  <a:extLst>
                    <a:ext uri="{9D8B030D-6E8A-4147-A177-3AD203B41FA5}">
                      <a16:colId xmlns:a16="http://schemas.microsoft.com/office/drawing/2014/main" val="3251308170"/>
                    </a:ext>
                  </a:extLst>
                </a:gridCol>
              </a:tblGrid>
              <a:tr h="203200">
                <a:tc gridSpan="5"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Prediction dataset format-CpG Specific (cg123…)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en-US" sz="1400" kern="1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en-US" sz="14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en-US" sz="14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519119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maskid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visit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Age (a)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gender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cc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cell_prop1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cell_prop2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Prediction (p)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7141546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v1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0.994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F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Finland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0.42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0.11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3.66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8790240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v2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0.994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M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Sweden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0.35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0.18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2.32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9650649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3</a:t>
                      </a:r>
                      <a:endParaRPr lang="en-US" sz="1400" kern="100">
                        <a:effectLst/>
                      </a:endParaRPr>
                    </a:p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..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v1</a:t>
                      </a:r>
                      <a:endParaRPr lang="en-US" sz="1400" kern="100">
                        <a:effectLst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..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0.994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..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F</a:t>
                      </a:r>
                      <a:endParaRPr lang="en-US" sz="1400" kern="100">
                        <a:effectLst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..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Colorado</a:t>
                      </a:r>
                      <a:endParaRPr lang="en-US" sz="1400" kern="100">
                        <a:effectLst/>
                      </a:endParaRPr>
                    </a:p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..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0.5</a:t>
                      </a:r>
                      <a:endParaRPr lang="en-US" sz="1400" kern="100">
                        <a:effectLst/>
                      </a:endParaRPr>
                    </a:p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..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0.09</a:t>
                      </a:r>
                      <a:endParaRPr lang="en-US" sz="1400" kern="100">
                        <a:effectLst/>
                      </a:endParaRPr>
                    </a:p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..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2.77</a:t>
                      </a:r>
                      <a:endParaRPr lang="en-US" sz="1400" kern="100" dirty="0">
                        <a:effectLst/>
                      </a:endParaRPr>
                    </a:p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…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7595981"/>
                  </a:ext>
                </a:extLst>
              </a:tr>
              <a:tr h="20320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buNone/>
                      </a:pPr>
                      <a:endParaRPr lang="en-US" sz="1400" kern="1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 gridSpan="5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p &lt;- predict(model, </a:t>
                      </a:r>
                      <a:r>
                        <a:rPr lang="en-US" sz="1200" kern="0" dirty="0" err="1">
                          <a:effectLst/>
                        </a:rPr>
                        <a:t>newdata</a:t>
                      </a:r>
                      <a:r>
                        <a:rPr lang="en-US" sz="1200" kern="0" dirty="0">
                          <a:effectLst/>
                        </a:rPr>
                        <a:t> = </a:t>
                      </a:r>
                      <a:r>
                        <a:rPr lang="en-US" sz="1200" kern="0" dirty="0" err="1">
                          <a:effectLst/>
                        </a:rPr>
                        <a:t>nd</a:t>
                      </a:r>
                      <a:r>
                        <a:rPr lang="en-US" sz="1200" kern="0" dirty="0">
                          <a:effectLst/>
                        </a:rPr>
                        <a:t>, </a:t>
                      </a:r>
                      <a:r>
                        <a:rPr lang="en-US" sz="1200" kern="0" dirty="0" err="1">
                          <a:effectLst/>
                        </a:rPr>
                        <a:t>re.form</a:t>
                      </a:r>
                      <a:r>
                        <a:rPr lang="en-US" sz="1200" kern="0" dirty="0">
                          <a:effectLst/>
                        </a:rPr>
                        <a:t> = NA) 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>
                          <a:effectLst/>
                        </a:rPr>
                        <a:t>Avg:mean(p)</a:t>
                      </a:r>
                      <a:endParaRPr lang="en-US" sz="14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r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 kern="0" dirty="0">
                          <a:effectLst/>
                        </a:rPr>
                        <a:t>3.658</a:t>
                      </a:r>
                      <a:endParaRPr lang="en-US" sz="14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Arial" panose="020B0604020202020204" pitchFamily="34" charset="0"/>
                      </a:endParaRPr>
                    </a:p>
                  </a:txBody>
                  <a:tcPr marL="68580" marR="68580" marT="0" marB="0" anchor="b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00934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560727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A1F4F-C4A1-5DCD-093B-43B602390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>
            <a:extLst>
              <a:ext uri="{FF2B5EF4-FFF2-40B4-BE49-F238E27FC236}">
                <a16:creationId xmlns:a16="http://schemas.microsoft.com/office/drawing/2014/main" id="{0ED2152B-F77E-BEB4-57F0-B2ACE461CB4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/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1269DE71-4C4A-2481-8C9A-D4D520EDFDB3}"/>
              </a:ext>
            </a:extLst>
          </p:cNvPr>
          <p:cNvSpPr txBox="1"/>
          <p:nvPr/>
        </p:nvSpPr>
        <p:spPr>
          <a:xfrm>
            <a:off x="1109484" y="864195"/>
            <a:ext cx="10297144" cy="23852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1"/>
            <a:endParaRPr lang="en-US" sz="2000" dirty="0"/>
          </a:p>
          <a:p>
            <a:pPr lvl="1"/>
            <a:endParaRPr lang="en-US" sz="2000" dirty="0"/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indent="-342900">
              <a:lnSpc>
                <a:spcPts val="2258"/>
              </a:lnSpc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lang="en-US" sz="2000" spc="-25" dirty="0">
              <a:solidFill>
                <a:srgbClr val="181A0D"/>
              </a:solidFill>
              <a:cs typeface="OAGDQN+FranklinGothic-BookItalic"/>
            </a:endParaRPr>
          </a:p>
          <a:p>
            <a:pPr marL="342900" marR="0" indent="-342900">
              <a:lnSpc>
                <a:spcPts val="2258"/>
              </a:lnSpc>
              <a:spcBef>
                <a:spcPts val="0"/>
              </a:spcBef>
              <a:spcAft>
                <a:spcPts val="0"/>
              </a:spcAft>
              <a:buFont typeface="Wingdings" pitchFamily="2" charset="2"/>
              <a:buChar char="q"/>
            </a:pPr>
            <a:endParaRPr sz="2000" spc="-25" dirty="0">
              <a:solidFill>
                <a:srgbClr val="181A0D"/>
              </a:solidFill>
              <a:cs typeface="OAGDQN+FranklinGothic-BookItalic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49EF5F8-64D5-2AF1-CD9B-4F365AED5FC0}"/>
              </a:ext>
            </a:extLst>
          </p:cNvPr>
          <p:cNvSpPr txBox="1"/>
          <p:nvPr/>
        </p:nvSpPr>
        <p:spPr>
          <a:xfrm>
            <a:off x="992845" y="947748"/>
            <a:ext cx="9495643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endParaRPr lang="en-US" sz="2400" b="1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400" b="1" dirty="0"/>
              <a:t>Clustering: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400" b="1" dirty="0"/>
              <a:t>”Gold Standard” CpGs</a:t>
            </a:r>
          </a:p>
          <a:p>
            <a:pPr marL="1257300" lvl="2" indent="-342900">
              <a:buFont typeface="Wingdings" pitchFamily="2" charset="2"/>
              <a:buChar char="§"/>
            </a:pPr>
            <a:r>
              <a:rPr lang="en-US" sz="2400" dirty="0"/>
              <a:t>Visually increasing, flat, &amp; decreasing CpGs were identified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400" dirty="0"/>
              <a:t>Perfect separation for increasing and decreasing CpGs - struggled with “flats” </a:t>
            </a:r>
          </a:p>
          <a:p>
            <a:pPr marL="2171700" lvl="4" indent="-342900">
              <a:buFont typeface="Wingdings" pitchFamily="2" charset="2"/>
              <a:buChar char="v"/>
            </a:pPr>
            <a:r>
              <a:rPr lang="en-US" sz="2400" dirty="0"/>
              <a:t>Flats to be removed from downstream analysis (</a:t>
            </a:r>
            <a:r>
              <a:rPr lang="en-US" sz="2400" i="1" dirty="0"/>
              <a:t>new</a:t>
            </a:r>
            <a:r>
              <a:rPr lang="en-US" sz="2400" dirty="0"/>
              <a:t>)</a:t>
            </a:r>
          </a:p>
          <a:p>
            <a:pPr marL="1714500" lvl="3" indent="-342900">
              <a:buFont typeface="Arial" panose="020B0604020202020204" pitchFamily="34" charset="0"/>
              <a:buChar char="•"/>
            </a:pPr>
            <a:r>
              <a:rPr lang="en-US" sz="2400" dirty="0"/>
              <a:t>Need to fine tune the definition of “flats”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285750" indent="-285750">
              <a:buFont typeface="Wingdings" pitchFamily="2" charset="2"/>
              <a:buChar char="q"/>
            </a:pPr>
            <a:r>
              <a:rPr lang="en-US" sz="2400" b="1" dirty="0"/>
              <a:t>Next Steps: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400" dirty="0"/>
              <a:t>Analyze controls only (</a:t>
            </a:r>
            <a:r>
              <a:rPr lang="en-US" sz="2400" i="1" dirty="0"/>
              <a:t>new direction</a:t>
            </a:r>
            <a:r>
              <a:rPr lang="en-US" sz="2400" dirty="0"/>
              <a:t>)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400" dirty="0"/>
              <a:t>Use GMM to identify CpGs with sub-trajectories (last slide)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400" dirty="0"/>
              <a:t>Cluster on remaining CpGs &amp; describe the trajectory classes</a:t>
            </a:r>
          </a:p>
          <a:p>
            <a:pPr marL="800100" lvl="1" indent="-342900">
              <a:buFont typeface="Wingdings" pitchFamily="2" charset="2"/>
              <a:buChar char="Ø"/>
            </a:pPr>
            <a:r>
              <a:rPr lang="en-US" sz="2400" dirty="0"/>
              <a:t>Interpret functional associations of CpGs in the clusters</a:t>
            </a:r>
          </a:p>
          <a:p>
            <a:pPr marL="342900" indent="-342900">
              <a:buFont typeface="Wingdings" pitchFamily="2" charset="2"/>
              <a:buChar char="Ø"/>
            </a:pPr>
            <a:endParaRPr lang="en-US" sz="2400" dirty="0"/>
          </a:p>
          <a:p>
            <a:pPr lvl="1"/>
            <a:endParaRPr lang="en-US" dirty="0"/>
          </a:p>
        </p:txBody>
      </p:sp>
      <p:sp>
        <p:nvSpPr>
          <p:cNvPr id="3" name="object 3">
            <a:extLst>
              <a:ext uri="{FF2B5EF4-FFF2-40B4-BE49-F238E27FC236}">
                <a16:creationId xmlns:a16="http://schemas.microsoft.com/office/drawing/2014/main" id="{53D6C11A-994F-4419-627D-27236D5C3066}"/>
              </a:ext>
            </a:extLst>
          </p:cNvPr>
          <p:cNvSpPr txBox="1"/>
          <p:nvPr/>
        </p:nvSpPr>
        <p:spPr>
          <a:xfrm>
            <a:off x="1109484" y="156212"/>
            <a:ext cx="8442900" cy="641201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>
              <a:lnSpc>
                <a:spcPts val="4979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4400" spc="-21" dirty="0">
                <a:solidFill>
                  <a:srgbClr val="181A0D"/>
                </a:solidFill>
                <a:cs typeface="KDMFEK+FranklinGothic-Book"/>
              </a:rPr>
              <a:t>Pre-liminary Results &amp; Next Steps</a:t>
            </a:r>
            <a:endParaRPr sz="4400" dirty="0">
              <a:solidFill>
                <a:srgbClr val="181A0D"/>
              </a:solidFill>
              <a:cs typeface="KDMFEK+FranklinGothic-Book"/>
            </a:endParaRPr>
          </a:p>
        </p:txBody>
      </p:sp>
    </p:spTree>
    <p:extLst>
      <p:ext uri="{BB962C8B-B14F-4D97-AF65-F5344CB8AC3E}">
        <p14:creationId xmlns:p14="http://schemas.microsoft.com/office/powerpoint/2010/main" val="2676045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9220A-E907-696F-E178-950E134974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1">
            <a:extLst>
              <a:ext uri="{FF2B5EF4-FFF2-40B4-BE49-F238E27FC236}">
                <a16:creationId xmlns:a16="http://schemas.microsoft.com/office/drawing/2014/main" id="{1DE5CAE3-8C9D-5530-AE7E-1A8DEBA08D3C}"/>
              </a:ext>
            </a:extLst>
          </p:cNvPr>
          <p:cNvSpPr/>
          <p:nvPr/>
        </p:nvSpPr>
        <p:spPr>
          <a:xfrm>
            <a:off x="-17029" y="16706"/>
            <a:ext cx="12192000" cy="6858000"/>
          </a:xfrm>
          <a:prstGeom prst="rect">
            <a:avLst/>
          </a:prstGeom>
          <a:blipFill>
            <a:blip r:embed="rId3" cstate="print"/>
            <a:stretch>
              <a:fillRect/>
            </a:stretch>
          </a:blipFill>
        </p:spPr>
        <p:txBody>
          <a:bodyPr wrap="square" lIns="0" tIns="0" rIns="0" bIns="0" rtlCol="0">
            <a:spAutoFit/>
          </a:bodyPr>
          <a:lstStyle/>
          <a:p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B49735A-4CE4-452E-A17A-032BD8F734F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0978" y="93375"/>
            <a:ext cx="5426761" cy="325895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2E37A79-4CBE-5B47-FEBD-4DFA7A89E4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154" y="163472"/>
            <a:ext cx="5160680" cy="309916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7D5254F-15DC-1B16-2E28-DBEB6C8298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978" y="3429000"/>
            <a:ext cx="5474485" cy="32589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4500D-D76F-F1B4-2E52-4D3CE09E0C9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083" y="3445706"/>
            <a:ext cx="5284822" cy="3173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4130030"/>
      </p:ext>
    </p:extLst>
  </p:cSld>
  <p:clrMapOvr>
    <a:masterClrMapping/>
  </p:clrMapOvr>
</p:sld>
</file>

<file path=ppt/theme/theme1.xml><?xml version="1.0" encoding="utf-8"?>
<a:theme xmlns:a="http://schemas.openxmlformats.org/drawingml/2006/main" name="Theme Office">
  <a:themeElements>
    <a:clrScheme name="Standard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Standard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tandar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19893</TotalTime>
  <Words>639</Words>
  <Application>Microsoft Macintosh PowerPoint</Application>
  <PresentationFormat>Widescreen</PresentationFormat>
  <Paragraphs>171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GEHAIV+FranklinGothic-Book</vt:lpstr>
      <vt:lpstr>OAGDQN+FranklinGothic-BookItalic</vt:lpstr>
      <vt:lpstr>Arial</vt:lpstr>
      <vt:lpstr>Calibri</vt:lpstr>
      <vt:lpstr>Wingdings</vt:lpstr>
      <vt:lpstr>Aptos</vt:lpstr>
      <vt:lpstr>NOOILK+FranklinGothic-Book</vt:lpstr>
      <vt:lpstr>KDMFEK+FranklinGothic-Book</vt:lpstr>
      <vt:lpstr>Theme Office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PowerPoint</dc:title>
  <dc:creator>root</dc:creator>
  <cp:lastModifiedBy>Ryan Summers</cp:lastModifiedBy>
  <cp:revision>683</cp:revision>
  <cp:lastPrinted>2026-06-15T21:02:35Z</cp:lastPrinted>
  <dcterms:modified xsi:type="dcterms:W3CDTF">2026-06-18T14:41:46Z</dcterms:modified>
</cp:coreProperties>
</file>